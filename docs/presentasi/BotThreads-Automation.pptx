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Inter Semi-Bold" charset="1" panose="02000503000000020004"/>
      <p:regular r:id="rId15"/>
    </p:embeddedFont>
    <p:embeddedFont>
      <p:font typeface="Inter Medium" charset="1" panose="02000503000000020004"/>
      <p:regular r:id="rId16"/>
    </p:embeddedFont>
    <p:embeddedFont>
      <p:font typeface="Inter" charset="1" panose="02000503000000020004"/>
      <p:regular r:id="rId17"/>
    </p:embeddedFont>
    <p:embeddedFont>
      <p:font typeface="Inter Bold" charset="1" panose="0200050300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32.png" Type="http://schemas.openxmlformats.org/officeDocument/2006/relationships/image"/><Relationship Id="rId15" Target="../media/image33.png" Type="http://schemas.openxmlformats.org/officeDocument/2006/relationships/image"/><Relationship Id="rId16" Target="../media/image34.png" Type="http://schemas.openxmlformats.org/officeDocument/2006/relationships/image"/><Relationship Id="rId17" Target="../media/image35.png" Type="http://schemas.openxmlformats.org/officeDocument/2006/relationships/image"/><Relationship Id="rId18" Target="../media/image36.png" Type="http://schemas.openxmlformats.org/officeDocument/2006/relationships/image"/><Relationship Id="rId19" Target="../media/image37.png" Type="http://schemas.openxmlformats.org/officeDocument/2006/relationships/image"/><Relationship Id="rId2" Target="../media/image20.png" Type="http://schemas.openxmlformats.org/officeDocument/2006/relationships/image"/><Relationship Id="rId20" Target="../media/image38.png" Type="http://schemas.openxmlformats.org/officeDocument/2006/relationships/image"/><Relationship Id="rId21" Target="../media/image39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png" Type="http://schemas.openxmlformats.org/officeDocument/2006/relationships/image"/><Relationship Id="rId12" Target="../media/image50.png" Type="http://schemas.openxmlformats.org/officeDocument/2006/relationships/image"/><Relationship Id="rId13" Target="../media/image51.png" Type="http://schemas.openxmlformats.org/officeDocument/2006/relationships/image"/><Relationship Id="rId14" Target="../media/image52.png" Type="http://schemas.openxmlformats.org/officeDocument/2006/relationships/image"/><Relationship Id="rId15" Target="../media/image53.png" Type="http://schemas.openxmlformats.org/officeDocument/2006/relationships/image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png" Type="http://schemas.openxmlformats.org/officeDocument/2006/relationships/image"/><Relationship Id="rId12" Target="../media/image64.png" Type="http://schemas.openxmlformats.org/officeDocument/2006/relationships/image"/><Relationship Id="rId13" Target="../media/image65.png" Type="http://schemas.openxmlformats.org/officeDocument/2006/relationships/image"/><Relationship Id="rId14" Target="../media/image66.png" Type="http://schemas.openxmlformats.org/officeDocument/2006/relationships/image"/><Relationship Id="rId15" Target="../media/image67.png" Type="http://schemas.openxmlformats.org/officeDocument/2006/relationships/image"/><Relationship Id="rId2" Target="../media/image54.pn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59.png" Type="http://schemas.openxmlformats.org/officeDocument/2006/relationships/image"/><Relationship Id="rId8" Target="../media/image60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6.png" Type="http://schemas.openxmlformats.org/officeDocument/2006/relationships/image"/><Relationship Id="rId11" Target="../media/image77.png" Type="http://schemas.openxmlformats.org/officeDocument/2006/relationships/image"/><Relationship Id="rId12" Target="../media/image78.png" Type="http://schemas.openxmlformats.org/officeDocument/2006/relationships/image"/><Relationship Id="rId13" Target="../media/image79.png" Type="http://schemas.openxmlformats.org/officeDocument/2006/relationships/image"/><Relationship Id="rId14" Target="../media/image80.png" Type="http://schemas.openxmlformats.org/officeDocument/2006/relationships/image"/><Relationship Id="rId15" Target="../media/image81.png" Type="http://schemas.openxmlformats.org/officeDocument/2006/relationships/image"/><Relationship Id="rId16" Target="../media/image82.png" Type="http://schemas.openxmlformats.org/officeDocument/2006/relationships/image"/><Relationship Id="rId2" Target="../media/image68.png" Type="http://schemas.openxmlformats.org/officeDocument/2006/relationships/image"/><Relationship Id="rId3" Target="../media/image69.png" Type="http://schemas.openxmlformats.org/officeDocument/2006/relationships/image"/><Relationship Id="rId4" Target="../media/image70.png" Type="http://schemas.openxmlformats.org/officeDocument/2006/relationships/image"/><Relationship Id="rId5" Target="../media/image71.png" Type="http://schemas.openxmlformats.org/officeDocument/2006/relationships/image"/><Relationship Id="rId6" Target="../media/image72.png" Type="http://schemas.openxmlformats.org/officeDocument/2006/relationships/image"/><Relationship Id="rId7" Target="../media/image73.png" Type="http://schemas.openxmlformats.org/officeDocument/2006/relationships/image"/><Relationship Id="rId8" Target="../media/image74.png" Type="http://schemas.openxmlformats.org/officeDocument/2006/relationships/image"/><Relationship Id="rId9" Target="../media/image7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1.png" Type="http://schemas.openxmlformats.org/officeDocument/2006/relationships/image"/><Relationship Id="rId11" Target="../media/image92.png" Type="http://schemas.openxmlformats.org/officeDocument/2006/relationships/image"/><Relationship Id="rId12" Target="../media/image93.png" Type="http://schemas.openxmlformats.org/officeDocument/2006/relationships/image"/><Relationship Id="rId13" Target="../media/image94.png" Type="http://schemas.openxmlformats.org/officeDocument/2006/relationships/image"/><Relationship Id="rId14" Target="../media/image95.png" Type="http://schemas.openxmlformats.org/officeDocument/2006/relationships/image"/><Relationship Id="rId15" Target="../media/image96.png" Type="http://schemas.openxmlformats.org/officeDocument/2006/relationships/image"/><Relationship Id="rId2" Target="../media/image83.png" Type="http://schemas.openxmlformats.org/officeDocument/2006/relationships/image"/><Relationship Id="rId3" Target="../media/image84.png" Type="http://schemas.openxmlformats.org/officeDocument/2006/relationships/image"/><Relationship Id="rId4" Target="../media/image85.png" Type="http://schemas.openxmlformats.org/officeDocument/2006/relationships/image"/><Relationship Id="rId5" Target="../media/image86.png" Type="http://schemas.openxmlformats.org/officeDocument/2006/relationships/image"/><Relationship Id="rId6" Target="../media/image87.png" Type="http://schemas.openxmlformats.org/officeDocument/2006/relationships/image"/><Relationship Id="rId7" Target="../media/image88.png" Type="http://schemas.openxmlformats.org/officeDocument/2006/relationships/image"/><Relationship Id="rId8" Target="../media/image89.png" Type="http://schemas.openxmlformats.org/officeDocument/2006/relationships/image"/><Relationship Id="rId9" Target="../media/image9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5.png" Type="http://schemas.openxmlformats.org/officeDocument/2006/relationships/image"/><Relationship Id="rId11" Target="../media/image106.png" Type="http://schemas.openxmlformats.org/officeDocument/2006/relationships/image"/><Relationship Id="rId12" Target="../media/image107.png" Type="http://schemas.openxmlformats.org/officeDocument/2006/relationships/image"/><Relationship Id="rId2" Target="../media/image97.png" Type="http://schemas.openxmlformats.org/officeDocument/2006/relationships/image"/><Relationship Id="rId3" Target="../media/image98.png" Type="http://schemas.openxmlformats.org/officeDocument/2006/relationships/image"/><Relationship Id="rId4" Target="../media/image99.png" Type="http://schemas.openxmlformats.org/officeDocument/2006/relationships/image"/><Relationship Id="rId5" Target="../media/image100.png" Type="http://schemas.openxmlformats.org/officeDocument/2006/relationships/image"/><Relationship Id="rId6" Target="../media/image101.png" Type="http://schemas.openxmlformats.org/officeDocument/2006/relationships/image"/><Relationship Id="rId7" Target="../media/image102.png" Type="http://schemas.openxmlformats.org/officeDocument/2006/relationships/image"/><Relationship Id="rId8" Target="../media/image103.png" Type="http://schemas.openxmlformats.org/officeDocument/2006/relationships/image"/><Relationship Id="rId9" Target="../media/image10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8.png" Type="http://schemas.openxmlformats.org/officeDocument/2006/relationships/image"/><Relationship Id="rId3" Target="../media/image109.png" Type="http://schemas.openxmlformats.org/officeDocument/2006/relationships/image"/><Relationship Id="rId4" Target="../media/image110.png" Type="http://schemas.openxmlformats.org/officeDocument/2006/relationships/image"/><Relationship Id="rId5" Target="../media/image111.png" Type="http://schemas.openxmlformats.org/officeDocument/2006/relationships/image"/><Relationship Id="rId6" Target="../media/image112.png" Type="http://schemas.openxmlformats.org/officeDocument/2006/relationships/image"/><Relationship Id="rId7" Target="../media/image1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4.png" Type="http://schemas.openxmlformats.org/officeDocument/2006/relationships/image"/><Relationship Id="rId3" Target="../media/image115.png" Type="http://schemas.openxmlformats.org/officeDocument/2006/relationships/image"/><Relationship Id="rId4" Target="../media/image116.png" Type="http://schemas.openxmlformats.org/officeDocument/2006/relationships/image"/><Relationship Id="rId5" Target="../media/image1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6703" y="3682272"/>
            <a:ext cx="7091464" cy="136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9"/>
              </a:lnSpc>
            </a:pPr>
            <a:r>
              <a:rPr lang="en-US" sz="10369" spc="-308" b="true">
                <a:solidFill>
                  <a:srgbClr val="06203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BotThreads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4086" y="5138034"/>
            <a:ext cx="1968804" cy="437279"/>
          </a:xfrm>
          <a:custGeom>
            <a:avLst/>
            <a:gdLst/>
            <a:ahLst/>
            <a:cxnLst/>
            <a:rect r="r" b="b" t="t" l="l"/>
            <a:pathLst>
              <a:path h="437279" w="1968804">
                <a:moveTo>
                  <a:pt x="0" y="0"/>
                </a:moveTo>
                <a:lnTo>
                  <a:pt x="1968804" y="0"/>
                </a:lnTo>
                <a:lnTo>
                  <a:pt x="196880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28615" y="5862725"/>
            <a:ext cx="6258014" cy="98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102" spc="-62" b="true">
                <a:solidFill>
                  <a:srgbClr val="424242"/>
                </a:solidFill>
                <a:latin typeface="Inter Medium"/>
                <a:ea typeface="Inter Medium"/>
                <a:cs typeface="Inter Medium"/>
                <a:sym typeface="Inter Medium"/>
              </a:rPr>
              <a:t>Automation konten Threads untuk brand dengan banyak akun.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925244" y="1497682"/>
            <a:ext cx="9154938" cy="7291635"/>
          </a:xfrm>
          <a:custGeom>
            <a:avLst/>
            <a:gdLst/>
            <a:ahLst/>
            <a:cxnLst/>
            <a:rect r="r" b="b" t="t" l="l"/>
            <a:pathLst>
              <a:path h="7291635" w="9154938">
                <a:moveTo>
                  <a:pt x="0" y="0"/>
                </a:moveTo>
                <a:lnTo>
                  <a:pt x="9154938" y="0"/>
                </a:lnTo>
                <a:lnTo>
                  <a:pt x="9154938" y="7291636"/>
                </a:lnTo>
                <a:lnTo>
                  <a:pt x="0" y="72916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1705390"/>
            <a:ext cx="875024" cy="448211"/>
          </a:xfrm>
          <a:custGeom>
            <a:avLst/>
            <a:gdLst/>
            <a:ahLst/>
            <a:cxnLst/>
            <a:rect r="r" b="b" t="t" l="l"/>
            <a:pathLst>
              <a:path h="448211" w="875024">
                <a:moveTo>
                  <a:pt x="0" y="0"/>
                </a:moveTo>
                <a:lnTo>
                  <a:pt x="875024" y="0"/>
                </a:lnTo>
                <a:lnTo>
                  <a:pt x="87502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25244" y="1924030"/>
            <a:ext cx="1968804" cy="6865288"/>
          </a:xfrm>
          <a:custGeom>
            <a:avLst/>
            <a:gdLst/>
            <a:ahLst/>
            <a:cxnLst/>
            <a:rect r="r" b="b" t="t" l="l"/>
            <a:pathLst>
              <a:path h="6865288" w="1968804">
                <a:moveTo>
                  <a:pt x="0" y="0"/>
                </a:moveTo>
                <a:lnTo>
                  <a:pt x="1968804" y="0"/>
                </a:lnTo>
                <a:lnTo>
                  <a:pt x="1968804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260742" y="2486097"/>
            <a:ext cx="1298672" cy="25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6"/>
              </a:lnSpc>
            </a:pPr>
            <a:r>
              <a:rPr lang="en-US" b="true" sz="1916" spc="-57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BotThreads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925244" y="2995365"/>
            <a:ext cx="1968804" cy="655919"/>
          </a:xfrm>
          <a:custGeom>
            <a:avLst/>
            <a:gdLst/>
            <a:ahLst/>
            <a:cxnLst/>
            <a:rect r="r" b="b" t="t" l="l"/>
            <a:pathLst>
              <a:path h="655919" w="1968804">
                <a:moveTo>
                  <a:pt x="0" y="0"/>
                </a:moveTo>
                <a:lnTo>
                  <a:pt x="1968804" y="0"/>
                </a:lnTo>
                <a:lnTo>
                  <a:pt x="196880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238293" y="3224876"/>
            <a:ext cx="976023" cy="1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b="true" sz="1494" spc="-44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Dashboard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62616" y="4339378"/>
            <a:ext cx="639925" cy="1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44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Konten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12087" y="6493078"/>
            <a:ext cx="1028435" cy="1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b="true" sz="1494" spc="-44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Pengaturan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90370" y="2487006"/>
            <a:ext cx="1282729" cy="27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7"/>
              </a:lnSpc>
            </a:pPr>
            <a:r>
              <a:rPr lang="en-US" b="true" sz="2047" spc="-60">
                <a:solidFill>
                  <a:srgbClr val="06203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Ringkasan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100440" y="2350377"/>
            <a:ext cx="1760986" cy="655919"/>
          </a:xfrm>
          <a:custGeom>
            <a:avLst/>
            <a:gdLst/>
            <a:ahLst/>
            <a:cxnLst/>
            <a:rect r="r" b="b" t="t" l="l"/>
            <a:pathLst>
              <a:path h="655919" w="1760986">
                <a:moveTo>
                  <a:pt x="0" y="0"/>
                </a:moveTo>
                <a:lnTo>
                  <a:pt x="1760986" y="0"/>
                </a:lnTo>
                <a:lnTo>
                  <a:pt x="176098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883110" y="2995365"/>
            <a:ext cx="1750048" cy="1934962"/>
          </a:xfrm>
          <a:custGeom>
            <a:avLst/>
            <a:gdLst/>
            <a:ahLst/>
            <a:cxnLst/>
            <a:rect r="r" b="b" t="t" l="l"/>
            <a:pathLst>
              <a:path h="1934962" w="1750048">
                <a:moveTo>
                  <a:pt x="0" y="0"/>
                </a:moveTo>
                <a:lnTo>
                  <a:pt x="1750048" y="0"/>
                </a:lnTo>
                <a:lnTo>
                  <a:pt x="1750048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462516" y="3754336"/>
            <a:ext cx="620411" cy="50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3"/>
              </a:lnSpc>
            </a:pPr>
            <a:r>
              <a:rPr lang="en-US" b="true" sz="3893" spc="-115">
                <a:solidFill>
                  <a:srgbClr val="109CA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24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2622220" y="2995365"/>
            <a:ext cx="1750048" cy="1934962"/>
          </a:xfrm>
          <a:custGeom>
            <a:avLst/>
            <a:gdLst/>
            <a:ahLst/>
            <a:cxnLst/>
            <a:rect r="r" b="b" t="t" l="l"/>
            <a:pathLst>
              <a:path h="1934962" w="1750048">
                <a:moveTo>
                  <a:pt x="0" y="0"/>
                </a:moveTo>
                <a:lnTo>
                  <a:pt x="1750048" y="0"/>
                </a:lnTo>
                <a:lnTo>
                  <a:pt x="1750048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022058" y="3754336"/>
            <a:ext cx="797989" cy="50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3"/>
              </a:lnSpc>
            </a:pPr>
            <a:r>
              <a:rPr lang="en-US" b="true" sz="3893" spc="-115">
                <a:solidFill>
                  <a:srgbClr val="109CA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156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4361330" y="2995365"/>
            <a:ext cx="1542230" cy="1934962"/>
          </a:xfrm>
          <a:custGeom>
            <a:avLst/>
            <a:gdLst/>
            <a:ahLst/>
            <a:cxnLst/>
            <a:rect r="r" b="b" t="t" l="l"/>
            <a:pathLst>
              <a:path h="1934962" w="1542230">
                <a:moveTo>
                  <a:pt x="0" y="0"/>
                </a:moveTo>
                <a:lnTo>
                  <a:pt x="1542230" y="0"/>
                </a:lnTo>
                <a:lnTo>
                  <a:pt x="154223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644153" y="3754336"/>
            <a:ext cx="954402" cy="50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3"/>
              </a:lnSpc>
            </a:pPr>
            <a:r>
              <a:rPr lang="en-US" b="true" sz="3893" spc="-115">
                <a:solidFill>
                  <a:srgbClr val="109CA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98K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5892622" y="2995365"/>
            <a:ext cx="1968804" cy="1934962"/>
          </a:xfrm>
          <a:custGeom>
            <a:avLst/>
            <a:gdLst/>
            <a:ahLst/>
            <a:cxnLst/>
            <a:rect r="r" b="b" t="t" l="l"/>
            <a:pathLst>
              <a:path h="1934962" w="1968804">
                <a:moveTo>
                  <a:pt x="0" y="0"/>
                </a:moveTo>
                <a:lnTo>
                  <a:pt x="1968804" y="0"/>
                </a:lnTo>
                <a:lnTo>
                  <a:pt x="1968804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6201512" y="3754336"/>
            <a:ext cx="1293867" cy="50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3"/>
              </a:lnSpc>
            </a:pPr>
            <a:r>
              <a:rPr lang="en-US" b="true" sz="3893" spc="-115">
                <a:solidFill>
                  <a:srgbClr val="109CA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12.4K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6319196" y="5138034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747196" y="7280704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622220" y="7062064"/>
            <a:ext cx="667206" cy="874559"/>
          </a:xfrm>
          <a:custGeom>
            <a:avLst/>
            <a:gdLst/>
            <a:ahLst/>
            <a:cxnLst/>
            <a:rect r="r" b="b" t="t" l="l"/>
            <a:pathLst>
              <a:path h="874559" w="667206">
                <a:moveTo>
                  <a:pt x="0" y="0"/>
                </a:moveTo>
                <a:lnTo>
                  <a:pt x="667206" y="0"/>
                </a:lnTo>
                <a:lnTo>
                  <a:pt x="66720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278488" y="6854356"/>
            <a:ext cx="656268" cy="1082267"/>
          </a:xfrm>
          <a:custGeom>
            <a:avLst/>
            <a:gdLst/>
            <a:ahLst/>
            <a:cxnLst/>
            <a:rect r="r" b="b" t="t" l="l"/>
            <a:pathLst>
              <a:path h="1082267" w="656268">
                <a:moveTo>
                  <a:pt x="0" y="0"/>
                </a:moveTo>
                <a:lnTo>
                  <a:pt x="656268" y="0"/>
                </a:lnTo>
                <a:lnTo>
                  <a:pt x="65626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142574" y="6635716"/>
            <a:ext cx="667206" cy="1300906"/>
          </a:xfrm>
          <a:custGeom>
            <a:avLst/>
            <a:gdLst/>
            <a:ahLst/>
            <a:cxnLst/>
            <a:rect r="r" b="b" t="t" l="l"/>
            <a:pathLst>
              <a:path h="1300906" w="667206">
                <a:moveTo>
                  <a:pt x="0" y="0"/>
                </a:moveTo>
                <a:lnTo>
                  <a:pt x="667206" y="0"/>
                </a:lnTo>
                <a:lnTo>
                  <a:pt x="66720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017598" y="6428009"/>
            <a:ext cx="667206" cy="1508614"/>
          </a:xfrm>
          <a:custGeom>
            <a:avLst/>
            <a:gdLst/>
            <a:ahLst/>
            <a:cxnLst/>
            <a:rect r="r" b="b" t="t" l="l"/>
            <a:pathLst>
              <a:path h="1508614" w="667206">
                <a:moveTo>
                  <a:pt x="0" y="0"/>
                </a:moveTo>
                <a:lnTo>
                  <a:pt x="667206" y="0"/>
                </a:lnTo>
                <a:lnTo>
                  <a:pt x="66720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892622" y="6209369"/>
            <a:ext cx="656268" cy="1727254"/>
          </a:xfrm>
          <a:custGeom>
            <a:avLst/>
            <a:gdLst/>
            <a:ahLst/>
            <a:cxnLst/>
            <a:rect r="r" b="b" t="t" l="l"/>
            <a:pathLst>
              <a:path h="1727254" w="656268">
                <a:moveTo>
                  <a:pt x="0" y="0"/>
                </a:moveTo>
                <a:lnTo>
                  <a:pt x="656268" y="0"/>
                </a:lnTo>
                <a:lnTo>
                  <a:pt x="65626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6756708" y="5783021"/>
            <a:ext cx="448450" cy="2153601"/>
          </a:xfrm>
          <a:custGeom>
            <a:avLst/>
            <a:gdLst/>
            <a:ahLst/>
            <a:cxnLst/>
            <a:rect r="r" b="b" t="t" l="l"/>
            <a:pathLst>
              <a:path h="2153601" w="448450">
                <a:moveTo>
                  <a:pt x="0" y="0"/>
                </a:moveTo>
                <a:lnTo>
                  <a:pt x="448450" y="0"/>
                </a:lnTo>
                <a:lnTo>
                  <a:pt x="448450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262935" y="5273007"/>
            <a:ext cx="1526035" cy="1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44" b="true">
                <a:solidFill>
                  <a:srgbClr val="06203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Performa Konten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366841" y="2567958"/>
            <a:ext cx="1209132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1195" spc="-35">
                <a:solidFill>
                  <a:srgbClr val="06203D"/>
                </a:solidFill>
                <a:latin typeface="Inter"/>
                <a:ea typeface="Inter"/>
                <a:cs typeface="Inter"/>
                <a:sym typeface="Inter"/>
              </a:rPr>
              <a:t>7 hari terakhir ✔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845300" y="3360423"/>
            <a:ext cx="1230264" cy="1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b="true" sz="1494" spc="-44">
                <a:solidFill>
                  <a:srgbClr val="06203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Konten Terbit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636437" y="3360423"/>
            <a:ext cx="1000374" cy="1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b="true" sz="1494" spc="-44">
                <a:solidFill>
                  <a:srgbClr val="06203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Jangkauan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637122" y="5278909"/>
            <a:ext cx="805194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b="true" sz="1195" spc="-35">
                <a:solidFill>
                  <a:srgbClr val="06203D"/>
                </a:solidFill>
                <a:latin typeface="Inter Medium"/>
                <a:ea typeface="Inter Medium"/>
                <a:cs typeface="Inter Medium"/>
                <a:sym typeface="Inter Medium"/>
              </a:rPr>
              <a:t>Jangkauan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301435" y="3360423"/>
            <a:ext cx="942573" cy="1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b="true" sz="1494" spc="-44">
                <a:solidFill>
                  <a:srgbClr val="06203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Akun Aktif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466968" y="4369500"/>
            <a:ext cx="768311" cy="1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b="true" sz="1494" spc="-44">
                <a:solidFill>
                  <a:srgbClr val="06203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interaksi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65404" y="3360423"/>
            <a:ext cx="771440" cy="1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b="true" sz="1494" spc="-44">
                <a:solidFill>
                  <a:srgbClr val="06203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Interaksi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262533" y="5423758"/>
            <a:ext cx="648226" cy="1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44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Analitik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262651" y="4881568"/>
            <a:ext cx="636502" cy="1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44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Jadwal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503903" y="8065164"/>
            <a:ext cx="692548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b="true" sz="1195" spc="-35">
                <a:solidFill>
                  <a:srgbClr val="06203D"/>
                </a:solidFill>
                <a:latin typeface="Inter Medium"/>
                <a:ea typeface="Inter Medium"/>
                <a:cs typeface="Inter Medium"/>
                <a:sym typeface="Inter Medium"/>
              </a:rPr>
              <a:t>6 hari lalu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995286" y="8065164"/>
            <a:ext cx="692548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b="true" sz="1195" spc="-35">
                <a:solidFill>
                  <a:srgbClr val="06203D"/>
                </a:solidFill>
                <a:latin typeface="Inter Medium"/>
                <a:ea typeface="Inter Medium"/>
                <a:cs typeface="Inter Medium"/>
                <a:sym typeface="Inter Medium"/>
              </a:rPr>
              <a:t>3 hari lalu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826987" y="8065164"/>
            <a:ext cx="690068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b="true" sz="1195" spc="-35">
                <a:solidFill>
                  <a:srgbClr val="06203D"/>
                </a:solidFill>
                <a:latin typeface="Inter Medium"/>
                <a:ea typeface="Inter Medium"/>
                <a:cs typeface="Inter Medium"/>
                <a:sym typeface="Inter Medium"/>
              </a:rPr>
              <a:t>2 hari lalu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731980" y="8065164"/>
            <a:ext cx="682629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b="true" sz="1195" spc="-35">
                <a:solidFill>
                  <a:srgbClr val="06203D"/>
                </a:solidFill>
                <a:latin typeface="Inter Medium"/>
                <a:ea typeface="Inter Medium"/>
                <a:cs typeface="Inter Medium"/>
                <a:sym typeface="Inter Medium"/>
              </a:rPr>
              <a:t>7 hari lalu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336284" y="8065164"/>
            <a:ext cx="688708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b="true" sz="1195" spc="-35">
                <a:solidFill>
                  <a:srgbClr val="06203D"/>
                </a:solidFill>
                <a:latin typeface="Inter Medium"/>
                <a:ea typeface="Inter Medium"/>
                <a:cs typeface="Inter Medium"/>
                <a:sym typeface="Inter Medium"/>
              </a:rPr>
              <a:t>5 hari lalu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162505" y="8065164"/>
            <a:ext cx="697188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b="true" sz="1195" spc="-35">
                <a:solidFill>
                  <a:srgbClr val="06203D"/>
                </a:solidFill>
                <a:latin typeface="Inter Medium"/>
                <a:ea typeface="Inter Medium"/>
                <a:cs typeface="Inter Medium"/>
                <a:sym typeface="Inter Medium"/>
              </a:rPr>
              <a:t>4 hari lalu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264088" y="5950888"/>
            <a:ext cx="492752" cy="1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44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Inbox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210242" y="4369500"/>
            <a:ext cx="500380" cy="1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b="true" sz="1494" spc="-44">
                <a:solidFill>
                  <a:srgbClr val="06203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posts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705212" y="8065164"/>
            <a:ext cx="590255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b="true" sz="1195" spc="-35">
                <a:solidFill>
                  <a:srgbClr val="06203D"/>
                </a:solidFill>
                <a:latin typeface="Inter Medium"/>
                <a:ea typeface="Inter Medium"/>
                <a:cs typeface="Inter Medium"/>
                <a:sym typeface="Inter Medium"/>
              </a:rPr>
              <a:t>Keminin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264375" y="3782127"/>
            <a:ext cx="464104" cy="1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4"/>
              </a:lnSpc>
            </a:pPr>
            <a:r>
              <a:rPr lang="en-US" sz="1494" spc="-44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Akun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899424" y="4369500"/>
            <a:ext cx="443861" cy="1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b="true" sz="1494" spc="-44">
                <a:solidFill>
                  <a:srgbClr val="06203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akun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550791" y="4369500"/>
            <a:ext cx="443861" cy="1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4"/>
              </a:lnSpc>
            </a:pPr>
            <a:r>
              <a:rPr lang="en-US" b="true" sz="1494" spc="-44">
                <a:solidFill>
                  <a:srgbClr val="06203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akun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275159" y="5911464"/>
            <a:ext cx="303650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spc="-35" b="true">
                <a:solidFill>
                  <a:srgbClr val="06203D"/>
                </a:solidFill>
                <a:latin typeface="Inter Medium"/>
                <a:ea typeface="Inter Medium"/>
                <a:cs typeface="Inter Medium"/>
                <a:sym typeface="Inter Medium"/>
              </a:rPr>
              <a:t>30K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275184" y="6528959"/>
            <a:ext cx="301170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spc="-35" b="true">
                <a:solidFill>
                  <a:srgbClr val="06203D"/>
                </a:solidFill>
                <a:latin typeface="Inter Medium"/>
                <a:ea typeface="Inter Medium"/>
                <a:cs typeface="Inter Medium"/>
                <a:sym typeface="Inter Medium"/>
              </a:rPr>
              <a:t>20K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275514" y="7161514"/>
            <a:ext cx="268131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spc="-35" b="true">
                <a:solidFill>
                  <a:srgbClr val="06203D"/>
                </a:solidFill>
                <a:latin typeface="Inter Medium"/>
                <a:ea typeface="Inter Medium"/>
                <a:cs typeface="Inter Medium"/>
                <a:sym typeface="Inter Medium"/>
              </a:rPr>
              <a:t>10K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276061" y="7839252"/>
            <a:ext cx="213408" cy="15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"/>
              </a:lnSpc>
            </a:pPr>
            <a:r>
              <a:rPr lang="en-US" sz="1195" spc="-35" b="true">
                <a:solidFill>
                  <a:srgbClr val="06203D"/>
                </a:solidFill>
                <a:latin typeface="Inter Medium"/>
                <a:ea typeface="Inter Medium"/>
                <a:cs typeface="Inter Medium"/>
                <a:sym typeface="Inter Medium"/>
              </a:rPr>
              <a:t>   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0236" y="797952"/>
            <a:ext cx="7664712" cy="112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19"/>
              </a:lnSpc>
            </a:pPr>
            <a:r>
              <a:rPr lang="en-US" sz="8519" b="true">
                <a:solidFill>
                  <a:srgbClr val="083056"/>
                </a:solidFill>
                <a:latin typeface="Inter Bold"/>
                <a:ea typeface="Inter Bold"/>
                <a:cs typeface="Inter Bold"/>
                <a:sym typeface="Inter Bold"/>
              </a:rPr>
              <a:t>Tim Penyusun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924030"/>
            <a:ext cx="2843828" cy="437279"/>
          </a:xfrm>
          <a:custGeom>
            <a:avLst/>
            <a:gdLst/>
            <a:ahLst/>
            <a:cxnLst/>
            <a:rect r="r" b="b" t="t" l="l"/>
            <a:pathLst>
              <a:path h="437279" w="2843828">
                <a:moveTo>
                  <a:pt x="0" y="0"/>
                </a:moveTo>
                <a:lnTo>
                  <a:pt x="2843828" y="0"/>
                </a:lnTo>
                <a:lnTo>
                  <a:pt x="284382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39110" y="2569017"/>
            <a:ext cx="4801694" cy="3432644"/>
          </a:xfrm>
          <a:custGeom>
            <a:avLst/>
            <a:gdLst/>
            <a:ahLst/>
            <a:cxnLst/>
            <a:rect r="r" b="b" t="t" l="l"/>
            <a:pathLst>
              <a:path h="3432644" w="4801694">
                <a:moveTo>
                  <a:pt x="0" y="0"/>
                </a:moveTo>
                <a:lnTo>
                  <a:pt x="4801694" y="0"/>
                </a:lnTo>
                <a:lnTo>
                  <a:pt x="4801694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59464" y="2776725"/>
            <a:ext cx="1750048" cy="1727254"/>
          </a:xfrm>
          <a:custGeom>
            <a:avLst/>
            <a:gdLst/>
            <a:ahLst/>
            <a:cxnLst/>
            <a:rect r="r" b="b" t="t" l="l"/>
            <a:pathLst>
              <a:path h="1727254" w="1750048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91641" y="3310419"/>
            <a:ext cx="517578" cy="78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8"/>
              </a:lnSpc>
            </a:pPr>
            <a:r>
              <a:rPr lang="en-US" b="true" sz="6008">
                <a:solidFill>
                  <a:srgbClr val="F8FBFD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38709" y="4703197"/>
            <a:ext cx="1020762" cy="52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1"/>
              </a:lnSpc>
            </a:pPr>
            <a:r>
              <a:rPr lang="en-US" sz="4031" b="true">
                <a:solidFill>
                  <a:srgbClr val="083056"/>
                </a:solidFill>
                <a:latin typeface="Inter Bold"/>
                <a:ea typeface="Inter Bold"/>
                <a:cs typeface="Inter Bold"/>
                <a:sym typeface="Inter Bold"/>
              </a:rPr>
              <a:t>Tori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478220" y="5356674"/>
            <a:ext cx="1312536" cy="218640"/>
          </a:xfrm>
          <a:custGeom>
            <a:avLst/>
            <a:gdLst/>
            <a:ahLst/>
            <a:cxnLst/>
            <a:rect r="r" b="b" t="t" l="l"/>
            <a:pathLst>
              <a:path h="218640" w="1312536">
                <a:moveTo>
                  <a:pt x="0" y="0"/>
                </a:moveTo>
                <a:lnTo>
                  <a:pt x="1312536" y="0"/>
                </a:lnTo>
                <a:lnTo>
                  <a:pt x="131253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29866" y="2569017"/>
            <a:ext cx="5009512" cy="3432644"/>
          </a:xfrm>
          <a:custGeom>
            <a:avLst/>
            <a:gdLst/>
            <a:ahLst/>
            <a:cxnLst/>
            <a:rect r="r" b="b" t="t" l="l"/>
            <a:pathLst>
              <a:path h="3432644" w="5009512">
                <a:moveTo>
                  <a:pt x="0" y="0"/>
                </a:moveTo>
                <a:lnTo>
                  <a:pt x="5009512" y="0"/>
                </a:lnTo>
                <a:lnTo>
                  <a:pt x="5009512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68976" y="2776725"/>
            <a:ext cx="1750048" cy="1727254"/>
          </a:xfrm>
          <a:custGeom>
            <a:avLst/>
            <a:gdLst/>
            <a:ahLst/>
            <a:cxnLst/>
            <a:rect r="r" b="b" t="t" l="l"/>
            <a:pathLst>
              <a:path h="1727254" w="1750048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876510" y="3310419"/>
            <a:ext cx="513370" cy="78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8"/>
              </a:lnSpc>
            </a:pPr>
            <a:r>
              <a:rPr lang="en-US" b="true" sz="6008">
                <a:solidFill>
                  <a:srgbClr val="F8FBFD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79673" y="4703197"/>
            <a:ext cx="1450787" cy="52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1"/>
              </a:lnSpc>
            </a:pPr>
            <a:r>
              <a:rPr lang="en-US" sz="4031" b="true">
                <a:solidFill>
                  <a:srgbClr val="083056"/>
                </a:solidFill>
                <a:latin typeface="Inter Bold"/>
                <a:ea typeface="Inter Bold"/>
                <a:cs typeface="Inter Bold"/>
                <a:sym typeface="Inter Bold"/>
              </a:rPr>
              <a:t>Rendi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268976" y="5356674"/>
            <a:ext cx="1531292" cy="218640"/>
          </a:xfrm>
          <a:custGeom>
            <a:avLst/>
            <a:gdLst/>
            <a:ahLst/>
            <a:cxnLst/>
            <a:rect r="r" b="b" t="t" l="l"/>
            <a:pathLst>
              <a:path h="218640" w="1531292">
                <a:moveTo>
                  <a:pt x="0" y="0"/>
                </a:moveTo>
                <a:lnTo>
                  <a:pt x="1531292" y="0"/>
                </a:lnTo>
                <a:lnTo>
                  <a:pt x="153129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528440" y="2569017"/>
            <a:ext cx="5020450" cy="3432644"/>
          </a:xfrm>
          <a:custGeom>
            <a:avLst/>
            <a:gdLst/>
            <a:ahLst/>
            <a:cxnLst/>
            <a:rect r="r" b="b" t="t" l="l"/>
            <a:pathLst>
              <a:path h="3432644" w="5020450">
                <a:moveTo>
                  <a:pt x="0" y="0"/>
                </a:moveTo>
                <a:lnTo>
                  <a:pt x="5020450" y="0"/>
                </a:lnTo>
                <a:lnTo>
                  <a:pt x="5020450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278488" y="2776725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799588" y="3310419"/>
            <a:ext cx="579167" cy="78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8"/>
              </a:lnSpc>
            </a:pPr>
            <a:r>
              <a:rPr lang="en-US" b="true" sz="6008">
                <a:solidFill>
                  <a:srgbClr val="F8FBFD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37029" y="4703197"/>
            <a:ext cx="1501606" cy="52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1"/>
              </a:lnSpc>
            </a:pPr>
            <a:r>
              <a:rPr lang="en-US" sz="4031" b="true">
                <a:solidFill>
                  <a:srgbClr val="083056"/>
                </a:solidFill>
                <a:latin typeface="Inter Bold"/>
                <a:ea typeface="Inter Bold"/>
                <a:cs typeface="Inter Bold"/>
                <a:sym typeface="Inter Bold"/>
              </a:rPr>
              <a:t>Adam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278488" y="5356674"/>
            <a:ext cx="1531292" cy="218640"/>
          </a:xfrm>
          <a:custGeom>
            <a:avLst/>
            <a:gdLst/>
            <a:ahLst/>
            <a:cxnLst/>
            <a:rect r="r" b="b" t="t" l="l"/>
            <a:pathLst>
              <a:path h="218640" w="1531292">
                <a:moveTo>
                  <a:pt x="0" y="0"/>
                </a:moveTo>
                <a:lnTo>
                  <a:pt x="1531292" y="0"/>
                </a:lnTo>
                <a:lnTo>
                  <a:pt x="153129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39110" y="5990729"/>
            <a:ext cx="4801694" cy="3443576"/>
          </a:xfrm>
          <a:custGeom>
            <a:avLst/>
            <a:gdLst/>
            <a:ahLst/>
            <a:cxnLst/>
            <a:rect r="r" b="b" t="t" l="l"/>
            <a:pathLst>
              <a:path h="3443576" w="4801694">
                <a:moveTo>
                  <a:pt x="0" y="0"/>
                </a:moveTo>
                <a:lnTo>
                  <a:pt x="4801694" y="0"/>
                </a:lnTo>
                <a:lnTo>
                  <a:pt x="4801694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259464" y="6428009"/>
            <a:ext cx="1750048" cy="1508614"/>
          </a:xfrm>
          <a:custGeom>
            <a:avLst/>
            <a:gdLst/>
            <a:ahLst/>
            <a:cxnLst/>
            <a:rect r="r" b="b" t="t" l="l"/>
            <a:pathLst>
              <a:path h="1508614" w="1750048">
                <a:moveTo>
                  <a:pt x="0" y="0"/>
                </a:moveTo>
                <a:lnTo>
                  <a:pt x="1750048" y="0"/>
                </a:lnTo>
                <a:lnTo>
                  <a:pt x="175004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860464" y="6789473"/>
            <a:ext cx="579932" cy="78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8"/>
              </a:lnSpc>
            </a:pPr>
            <a:r>
              <a:rPr lang="en-US" b="true" sz="6008">
                <a:solidFill>
                  <a:srgbClr val="F8FBFD"/>
                </a:solidFill>
                <a:latin typeface="Inter Bold"/>
                <a:ea typeface="Inter Bold"/>
                <a:cs typeface="Inter Bold"/>
                <a:sym typeface="Inter Bold"/>
              </a:rPr>
              <a:t>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50267" y="8182251"/>
            <a:ext cx="1397647" cy="52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1"/>
              </a:lnSpc>
            </a:pPr>
            <a:r>
              <a:rPr lang="en-US" sz="4031" b="true">
                <a:solidFill>
                  <a:srgbClr val="083056"/>
                </a:solidFill>
                <a:latin typeface="Inter Bold"/>
                <a:ea typeface="Inter Bold"/>
                <a:cs typeface="Inter Bold"/>
                <a:sym typeface="Inter Bold"/>
              </a:rPr>
              <a:t>Hariri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3478220" y="8778386"/>
            <a:ext cx="1312536" cy="229572"/>
          </a:xfrm>
          <a:custGeom>
            <a:avLst/>
            <a:gdLst/>
            <a:ahLst/>
            <a:cxnLst/>
            <a:rect r="r" b="b" t="t" l="l"/>
            <a:pathLst>
              <a:path h="229572" w="1312536">
                <a:moveTo>
                  <a:pt x="0" y="0"/>
                </a:moveTo>
                <a:lnTo>
                  <a:pt x="1312536" y="0"/>
                </a:lnTo>
                <a:lnTo>
                  <a:pt x="131253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529866" y="5990729"/>
            <a:ext cx="5009512" cy="3443576"/>
          </a:xfrm>
          <a:custGeom>
            <a:avLst/>
            <a:gdLst/>
            <a:ahLst/>
            <a:cxnLst/>
            <a:rect r="r" b="b" t="t" l="l"/>
            <a:pathLst>
              <a:path h="3443576" w="5009512">
                <a:moveTo>
                  <a:pt x="0" y="0"/>
                </a:moveTo>
                <a:lnTo>
                  <a:pt x="5009512" y="0"/>
                </a:lnTo>
                <a:lnTo>
                  <a:pt x="5009512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268976" y="6428009"/>
            <a:ext cx="1750048" cy="1508614"/>
          </a:xfrm>
          <a:custGeom>
            <a:avLst/>
            <a:gdLst/>
            <a:ahLst/>
            <a:cxnLst/>
            <a:rect r="r" b="b" t="t" l="l"/>
            <a:pathLst>
              <a:path h="1508614" w="1750048">
                <a:moveTo>
                  <a:pt x="0" y="0"/>
                </a:moveTo>
                <a:lnTo>
                  <a:pt x="1750048" y="0"/>
                </a:lnTo>
                <a:lnTo>
                  <a:pt x="175004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8876893" y="6789473"/>
            <a:ext cx="512605" cy="78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8"/>
              </a:lnSpc>
            </a:pPr>
            <a:r>
              <a:rPr lang="en-US" b="true" sz="6008">
                <a:solidFill>
                  <a:srgbClr val="F8FBFD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394377" y="8182251"/>
            <a:ext cx="1421380" cy="52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1"/>
              </a:lnSpc>
            </a:pPr>
            <a:r>
              <a:rPr lang="en-US" sz="4031" b="true">
                <a:solidFill>
                  <a:srgbClr val="083056"/>
                </a:solidFill>
                <a:latin typeface="Inter Bold"/>
                <a:ea typeface="Inter Bold"/>
                <a:cs typeface="Inter Bold"/>
                <a:sym typeface="Inter Bold"/>
              </a:rPr>
              <a:t>Sapik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8268976" y="8778386"/>
            <a:ext cx="1531292" cy="229572"/>
          </a:xfrm>
          <a:custGeom>
            <a:avLst/>
            <a:gdLst/>
            <a:ahLst/>
            <a:cxnLst/>
            <a:rect r="r" b="b" t="t" l="l"/>
            <a:pathLst>
              <a:path h="229572" w="1531292">
                <a:moveTo>
                  <a:pt x="0" y="0"/>
                </a:moveTo>
                <a:lnTo>
                  <a:pt x="1531292" y="0"/>
                </a:lnTo>
                <a:lnTo>
                  <a:pt x="153129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528440" y="5990729"/>
            <a:ext cx="5020450" cy="3443576"/>
          </a:xfrm>
          <a:custGeom>
            <a:avLst/>
            <a:gdLst/>
            <a:ahLst/>
            <a:cxnLst/>
            <a:rect r="r" b="b" t="t" l="l"/>
            <a:pathLst>
              <a:path h="3443576" w="5020450">
                <a:moveTo>
                  <a:pt x="0" y="0"/>
                </a:moveTo>
                <a:lnTo>
                  <a:pt x="5020450" y="0"/>
                </a:lnTo>
                <a:lnTo>
                  <a:pt x="5020450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278488" y="6428009"/>
            <a:ext cx="1531292" cy="1508614"/>
          </a:xfrm>
          <a:custGeom>
            <a:avLst/>
            <a:gdLst/>
            <a:ahLst/>
            <a:cxnLst/>
            <a:rect r="r" b="b" t="t" l="l"/>
            <a:pathLst>
              <a:path h="1508614" w="1531292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3832487" y="6789473"/>
            <a:ext cx="513370" cy="78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8"/>
              </a:lnSpc>
            </a:pPr>
            <a:r>
              <a:rPr lang="en-US" b="true" sz="6008">
                <a:solidFill>
                  <a:srgbClr val="F8FBFD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41465" y="8182251"/>
            <a:ext cx="1092734" cy="52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1"/>
              </a:lnSpc>
            </a:pPr>
            <a:r>
              <a:rPr lang="en-US" sz="4031" b="true">
                <a:solidFill>
                  <a:srgbClr val="083056"/>
                </a:solidFill>
                <a:latin typeface="Inter Bold"/>
                <a:ea typeface="Inter Bold"/>
                <a:cs typeface="Inter Bold"/>
                <a:sym typeface="Inter Bold"/>
              </a:rPr>
              <a:t>Raki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3278488" y="8778386"/>
            <a:ext cx="1531292" cy="229572"/>
          </a:xfrm>
          <a:custGeom>
            <a:avLst/>
            <a:gdLst/>
            <a:ahLst/>
            <a:cxnLst/>
            <a:rect r="r" b="b" t="t" l="l"/>
            <a:pathLst>
              <a:path h="229572" w="1531292">
                <a:moveTo>
                  <a:pt x="0" y="0"/>
                </a:moveTo>
                <a:lnTo>
                  <a:pt x="1531292" y="0"/>
                </a:lnTo>
                <a:lnTo>
                  <a:pt x="153129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5095" y="767484"/>
            <a:ext cx="8821016" cy="112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45"/>
              </a:lnSpc>
            </a:pPr>
            <a:r>
              <a:rPr lang="en-US" sz="7453" b="true">
                <a:solidFill>
                  <a:srgbClr val="082849"/>
                </a:solidFill>
                <a:latin typeface="Inter Bold"/>
                <a:ea typeface="Inter Bold"/>
                <a:cs typeface="Inter Bold"/>
                <a:sym typeface="Inter Bold"/>
              </a:rPr>
              <a:t>Apa itu BotThreads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924030"/>
            <a:ext cx="2406316" cy="437279"/>
          </a:xfrm>
          <a:custGeom>
            <a:avLst/>
            <a:gdLst/>
            <a:ahLst/>
            <a:cxnLst/>
            <a:rect r="r" b="b" t="t" l="l"/>
            <a:pathLst>
              <a:path h="437279" w="2406316">
                <a:moveTo>
                  <a:pt x="0" y="0"/>
                </a:moveTo>
                <a:lnTo>
                  <a:pt x="2406316" y="0"/>
                </a:lnTo>
                <a:lnTo>
                  <a:pt x="240631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3305" y="2752056"/>
            <a:ext cx="6509742" cy="229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1" spc="-46" b="true">
                <a:solidFill>
                  <a:srgbClr val="404040"/>
                </a:solidFill>
                <a:latin typeface="Inter Medium"/>
                <a:ea typeface="Inter Medium"/>
                <a:cs typeface="Inter Medium"/>
                <a:sym typeface="Inter Medium"/>
              </a:rPr>
              <a:t>BotThreads adalah sistem automation konten Threads berbasis AI yang mengelola banyak akun sekaligus. AI meriset tren, menulis dengan suara brand, memeriksa kualitas, lalu menerbitkan di jam paling ramai tiap akun.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5564382"/>
            <a:ext cx="7197072" cy="1945894"/>
          </a:xfrm>
          <a:custGeom>
            <a:avLst/>
            <a:gdLst/>
            <a:ahLst/>
            <a:cxnLst/>
            <a:rect r="r" b="b" t="t" l="l"/>
            <a:pathLst>
              <a:path h="1945894" w="7197072">
                <a:moveTo>
                  <a:pt x="0" y="0"/>
                </a:moveTo>
                <a:lnTo>
                  <a:pt x="7197072" y="0"/>
                </a:lnTo>
                <a:lnTo>
                  <a:pt x="7197072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5330" y="5564382"/>
            <a:ext cx="229694" cy="1945894"/>
          </a:xfrm>
          <a:custGeom>
            <a:avLst/>
            <a:gdLst/>
            <a:ahLst/>
            <a:cxnLst/>
            <a:rect r="r" b="b" t="t" l="l"/>
            <a:pathLst>
              <a:path h="1945894" w="229694">
                <a:moveTo>
                  <a:pt x="0" y="0"/>
                </a:moveTo>
                <a:lnTo>
                  <a:pt x="229694" y="0"/>
                </a:lnTo>
                <a:lnTo>
                  <a:pt x="229694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86738" y="6102373"/>
            <a:ext cx="1877011" cy="285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39" b="true">
                <a:solidFill>
                  <a:srgbClr val="08284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Target per akun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2852" y="6524077"/>
            <a:ext cx="5265592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spc="-67" b="true">
                <a:solidFill>
                  <a:srgbClr val="138699"/>
                </a:solidFill>
                <a:latin typeface="Inter Bold"/>
                <a:ea typeface="Inter Bold"/>
                <a:cs typeface="Inter Bold"/>
                <a:sym typeface="Inter Bold"/>
              </a:rPr>
              <a:t>minimal 3 posting per hari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7499343"/>
            <a:ext cx="7197072" cy="1934962"/>
          </a:xfrm>
          <a:custGeom>
            <a:avLst/>
            <a:gdLst/>
            <a:ahLst/>
            <a:cxnLst/>
            <a:rect r="r" b="b" t="t" l="l"/>
            <a:pathLst>
              <a:path h="1934962" w="7197072">
                <a:moveTo>
                  <a:pt x="0" y="0"/>
                </a:moveTo>
                <a:lnTo>
                  <a:pt x="7197072" y="0"/>
                </a:lnTo>
                <a:lnTo>
                  <a:pt x="7197072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5330" y="7499343"/>
            <a:ext cx="229694" cy="1934962"/>
          </a:xfrm>
          <a:custGeom>
            <a:avLst/>
            <a:gdLst/>
            <a:ahLst/>
            <a:cxnLst/>
            <a:rect r="r" b="b" t="t" l="l"/>
            <a:pathLst>
              <a:path h="1934962" w="229694">
                <a:moveTo>
                  <a:pt x="0" y="0"/>
                </a:moveTo>
                <a:lnTo>
                  <a:pt x="229694" y="0"/>
                </a:lnTo>
                <a:lnTo>
                  <a:pt x="22969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87791" y="8000039"/>
            <a:ext cx="1771678" cy="285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39" b="true">
                <a:solidFill>
                  <a:srgbClr val="08284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Mode per akun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0382" y="8421743"/>
            <a:ext cx="5512608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spc="-67" b="true">
                <a:solidFill>
                  <a:srgbClr val="138699"/>
                </a:solidFill>
                <a:latin typeface="Inter Bold"/>
                <a:ea typeface="Inter Bold"/>
                <a:cs typeface="Inter Bold"/>
                <a:sym typeface="Inter Bold"/>
              </a:rPr>
              <a:t>Mati, Tinjau Dulu, Otomatis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965952" y="1497682"/>
            <a:ext cx="2625072" cy="1727254"/>
          </a:xfrm>
          <a:custGeom>
            <a:avLst/>
            <a:gdLst/>
            <a:ahLst/>
            <a:cxnLst/>
            <a:rect r="r" b="b" t="t" l="l"/>
            <a:pathLst>
              <a:path h="1727254" w="2625072">
                <a:moveTo>
                  <a:pt x="0" y="0"/>
                </a:moveTo>
                <a:lnTo>
                  <a:pt x="2625072" y="0"/>
                </a:lnTo>
                <a:lnTo>
                  <a:pt x="262507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820908" y="1767730"/>
            <a:ext cx="860604" cy="983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4"/>
              </a:lnSpc>
            </a:pPr>
            <a:r>
              <a:rPr lang="en-US" b="true" sz="2896" spc="-57">
                <a:solidFill>
                  <a:srgbClr val="F0F0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Riset</a:t>
            </a:r>
          </a:p>
          <a:p>
            <a:pPr algn="ctr">
              <a:lnSpc>
                <a:spcPts val="4054"/>
              </a:lnSpc>
            </a:pPr>
            <a:r>
              <a:rPr lang="en-US" b="true" sz="2896" spc="-57">
                <a:solidFill>
                  <a:srgbClr val="F0F0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Tren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706488" y="4285339"/>
            <a:ext cx="2406316" cy="1716322"/>
          </a:xfrm>
          <a:custGeom>
            <a:avLst/>
            <a:gdLst/>
            <a:ahLst/>
            <a:cxnLst/>
            <a:rect r="r" b="b" t="t" l="l"/>
            <a:pathLst>
              <a:path h="1716322" w="2406316">
                <a:moveTo>
                  <a:pt x="0" y="0"/>
                </a:moveTo>
                <a:lnTo>
                  <a:pt x="2406316" y="0"/>
                </a:lnTo>
                <a:lnTo>
                  <a:pt x="2406316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073344" y="4614229"/>
            <a:ext cx="1765621" cy="983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4"/>
              </a:lnSpc>
            </a:pPr>
            <a:r>
              <a:rPr lang="en-US" b="true" sz="2896" spc="-57">
                <a:solidFill>
                  <a:srgbClr val="F0F0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Terbit dan Belajar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5455110" y="4285339"/>
            <a:ext cx="2187560" cy="1716322"/>
          </a:xfrm>
          <a:custGeom>
            <a:avLst/>
            <a:gdLst/>
            <a:ahLst/>
            <a:cxnLst/>
            <a:rect r="r" b="b" t="t" l="l"/>
            <a:pathLst>
              <a:path h="1716322" w="2187560">
                <a:moveTo>
                  <a:pt x="0" y="0"/>
                </a:moveTo>
                <a:lnTo>
                  <a:pt x="2187560" y="0"/>
                </a:lnTo>
                <a:lnTo>
                  <a:pt x="2187560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076482" y="4614229"/>
            <a:ext cx="832408" cy="983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4"/>
              </a:lnSpc>
            </a:pPr>
            <a:r>
              <a:rPr lang="en-US" b="true" sz="2896" spc="-57">
                <a:solidFill>
                  <a:srgbClr val="F0F0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Tulis</a:t>
            </a:r>
          </a:p>
          <a:p>
            <a:pPr algn="ctr">
              <a:lnSpc>
                <a:spcPts val="4054"/>
              </a:lnSpc>
            </a:pPr>
            <a:r>
              <a:rPr lang="en-US" b="true" sz="2896" spc="-57">
                <a:solidFill>
                  <a:srgbClr val="F0F0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Draf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1965952" y="7499343"/>
            <a:ext cx="2625072" cy="1508614"/>
          </a:xfrm>
          <a:custGeom>
            <a:avLst/>
            <a:gdLst/>
            <a:ahLst/>
            <a:cxnLst/>
            <a:rect r="r" b="b" t="t" l="l"/>
            <a:pathLst>
              <a:path h="1508614" w="2625072">
                <a:moveTo>
                  <a:pt x="0" y="0"/>
                </a:moveTo>
                <a:lnTo>
                  <a:pt x="2625072" y="0"/>
                </a:lnTo>
                <a:lnTo>
                  <a:pt x="262507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226842" y="2350377"/>
            <a:ext cx="1968804" cy="2153601"/>
          </a:xfrm>
          <a:custGeom>
            <a:avLst/>
            <a:gdLst/>
            <a:ahLst/>
            <a:cxnLst/>
            <a:rect r="r" b="b" t="t" l="l"/>
            <a:pathLst>
              <a:path h="2153601" w="1968804">
                <a:moveTo>
                  <a:pt x="0" y="0"/>
                </a:moveTo>
                <a:lnTo>
                  <a:pt x="1968804" y="0"/>
                </a:lnTo>
                <a:lnTo>
                  <a:pt x="196880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361330" y="2142670"/>
            <a:ext cx="2187560" cy="2153601"/>
          </a:xfrm>
          <a:custGeom>
            <a:avLst/>
            <a:gdLst/>
            <a:ahLst/>
            <a:cxnLst/>
            <a:rect r="r" b="b" t="t" l="l"/>
            <a:pathLst>
              <a:path h="2153601" w="2187560">
                <a:moveTo>
                  <a:pt x="0" y="0"/>
                </a:moveTo>
                <a:lnTo>
                  <a:pt x="2187560" y="0"/>
                </a:lnTo>
                <a:lnTo>
                  <a:pt x="218756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008086" y="5990729"/>
            <a:ext cx="2187560" cy="2372241"/>
          </a:xfrm>
          <a:custGeom>
            <a:avLst/>
            <a:gdLst/>
            <a:ahLst/>
            <a:cxnLst/>
            <a:rect r="r" b="b" t="t" l="l"/>
            <a:pathLst>
              <a:path h="2372241" w="2187560">
                <a:moveTo>
                  <a:pt x="0" y="0"/>
                </a:moveTo>
                <a:lnTo>
                  <a:pt x="2187560" y="0"/>
                </a:lnTo>
                <a:lnTo>
                  <a:pt x="218756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580086" y="5783021"/>
            <a:ext cx="1968804" cy="2579949"/>
          </a:xfrm>
          <a:custGeom>
            <a:avLst/>
            <a:gdLst/>
            <a:ahLst/>
            <a:cxnLst/>
            <a:rect r="r" b="b" t="t" l="l"/>
            <a:pathLst>
              <a:path h="2579949" w="1968804">
                <a:moveTo>
                  <a:pt x="0" y="0"/>
                </a:moveTo>
                <a:lnTo>
                  <a:pt x="1968804" y="0"/>
                </a:lnTo>
                <a:lnTo>
                  <a:pt x="1968804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510900" y="4698965"/>
            <a:ext cx="3518603" cy="75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1"/>
              </a:lnSpc>
            </a:pPr>
            <a:r>
              <a:rPr lang="en-US" sz="5075" spc="-101" b="true">
                <a:solidFill>
                  <a:srgbClr val="082849"/>
                </a:solidFill>
                <a:latin typeface="Inter Bold"/>
                <a:ea typeface="Inter Bold"/>
                <a:cs typeface="Inter Bold"/>
                <a:sym typeface="Inter Bold"/>
              </a:rPr>
              <a:t>BotThreads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68778" y="5560183"/>
            <a:ext cx="3193795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b="true" sz="2311" spc="-46">
                <a:solidFill>
                  <a:srgbClr val="082849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autopilot konten harian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12980" y="7671281"/>
            <a:ext cx="2276459" cy="515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5"/>
              </a:lnSpc>
            </a:pPr>
            <a:r>
              <a:rPr lang="en-US" b="true" sz="3032" spc="-60">
                <a:solidFill>
                  <a:srgbClr val="F0F0F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Cek Kualitas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9152" y="629752"/>
            <a:ext cx="13773127" cy="1114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2"/>
              </a:lnSpc>
            </a:pPr>
            <a:r>
              <a:rPr lang="en-US" sz="7492" b="true">
                <a:solidFill>
                  <a:srgbClr val="08183F"/>
                </a:solidFill>
                <a:latin typeface="Inter Bold"/>
                <a:ea typeface="Inter Bold"/>
                <a:cs typeface="Inter Bold"/>
                <a:sym typeface="Inter Bold"/>
              </a:rPr>
              <a:t>Masalah yang dihadapi brand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705390"/>
            <a:ext cx="2187560" cy="448211"/>
          </a:xfrm>
          <a:custGeom>
            <a:avLst/>
            <a:gdLst/>
            <a:ahLst/>
            <a:cxnLst/>
            <a:rect r="r" b="b" t="t" l="l"/>
            <a:pathLst>
              <a:path h="448211" w="2187560">
                <a:moveTo>
                  <a:pt x="0" y="0"/>
                </a:moveTo>
                <a:lnTo>
                  <a:pt x="2187560" y="0"/>
                </a:lnTo>
                <a:lnTo>
                  <a:pt x="218756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4086" y="2350377"/>
            <a:ext cx="8279914" cy="3443576"/>
          </a:xfrm>
          <a:custGeom>
            <a:avLst/>
            <a:gdLst/>
            <a:ahLst/>
            <a:cxnLst/>
            <a:rect r="r" b="b" t="t" l="l"/>
            <a:pathLst>
              <a:path h="3443576" w="8279914">
                <a:moveTo>
                  <a:pt x="0" y="0"/>
                </a:moveTo>
                <a:lnTo>
                  <a:pt x="8279914" y="0"/>
                </a:lnTo>
                <a:lnTo>
                  <a:pt x="8279914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354" y="3214004"/>
            <a:ext cx="1750048" cy="1716322"/>
          </a:xfrm>
          <a:custGeom>
            <a:avLst/>
            <a:gdLst/>
            <a:ahLst/>
            <a:cxnLst/>
            <a:rect r="r" b="b" t="t" l="l"/>
            <a:pathLst>
              <a:path h="1716322" w="1750048">
                <a:moveTo>
                  <a:pt x="0" y="0"/>
                </a:moveTo>
                <a:lnTo>
                  <a:pt x="1750048" y="0"/>
                </a:lnTo>
                <a:lnTo>
                  <a:pt x="1750048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78220" y="2995365"/>
            <a:ext cx="448450" cy="2372241"/>
          </a:xfrm>
          <a:custGeom>
            <a:avLst/>
            <a:gdLst/>
            <a:ahLst/>
            <a:cxnLst/>
            <a:rect r="r" b="b" t="t" l="l"/>
            <a:pathLst>
              <a:path h="2372241" w="448450">
                <a:moveTo>
                  <a:pt x="0" y="0"/>
                </a:moveTo>
                <a:lnTo>
                  <a:pt x="448450" y="0"/>
                </a:lnTo>
                <a:lnTo>
                  <a:pt x="44845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38408" y="3017779"/>
            <a:ext cx="4068610" cy="1982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57" b="true">
                <a:solidFill>
                  <a:srgbClr val="0818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Posting manual</a:t>
            </a:r>
          </a:p>
          <a:p>
            <a:pPr algn="l">
              <a:lnSpc>
                <a:spcPts val="4054"/>
              </a:lnSpc>
            </a:pPr>
            <a:r>
              <a:rPr lang="en-US" sz="2896" spc="-57" b="true">
                <a:solidFill>
                  <a:srgbClr val="0818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di puluhan akun</a:t>
            </a:r>
          </a:p>
          <a:p>
            <a:pPr algn="l">
              <a:lnSpc>
                <a:spcPts val="4054"/>
              </a:lnSpc>
            </a:pPr>
            <a:r>
              <a:rPr lang="en-US" sz="2896" spc="-57" b="true">
                <a:solidFill>
                  <a:srgbClr val="0818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cabang menghabiskan</a:t>
            </a:r>
          </a:p>
          <a:p>
            <a:pPr algn="l">
              <a:lnSpc>
                <a:spcPts val="4054"/>
              </a:lnSpc>
            </a:pPr>
            <a:r>
              <a:rPr lang="en-US" sz="2896" spc="-57" b="true">
                <a:solidFill>
                  <a:srgbClr val="0818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jam kerja tim setiap hari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144000" y="2350377"/>
            <a:ext cx="7842402" cy="3443576"/>
          </a:xfrm>
          <a:custGeom>
            <a:avLst/>
            <a:gdLst/>
            <a:ahLst/>
            <a:cxnLst/>
            <a:rect r="r" b="b" t="t" l="l"/>
            <a:pathLst>
              <a:path h="3443576" w="7842402">
                <a:moveTo>
                  <a:pt x="0" y="0"/>
                </a:moveTo>
                <a:lnTo>
                  <a:pt x="7842402" y="0"/>
                </a:lnTo>
                <a:lnTo>
                  <a:pt x="7842402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89330" y="3214004"/>
            <a:ext cx="1542230" cy="1716322"/>
          </a:xfrm>
          <a:custGeom>
            <a:avLst/>
            <a:gdLst/>
            <a:ahLst/>
            <a:cxnLst/>
            <a:rect r="r" b="b" t="t" l="l"/>
            <a:pathLst>
              <a:path h="1716322" w="1542230">
                <a:moveTo>
                  <a:pt x="0" y="0"/>
                </a:moveTo>
                <a:lnTo>
                  <a:pt x="1542230" y="0"/>
                </a:lnTo>
                <a:lnTo>
                  <a:pt x="1542230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747196" y="2995365"/>
            <a:ext cx="229694" cy="2153601"/>
          </a:xfrm>
          <a:custGeom>
            <a:avLst/>
            <a:gdLst/>
            <a:ahLst/>
            <a:cxnLst/>
            <a:rect r="r" b="b" t="t" l="l"/>
            <a:pathLst>
              <a:path h="2153601" w="229694">
                <a:moveTo>
                  <a:pt x="0" y="0"/>
                </a:moveTo>
                <a:lnTo>
                  <a:pt x="229694" y="0"/>
                </a:lnTo>
                <a:lnTo>
                  <a:pt x="22969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346488" y="3273814"/>
            <a:ext cx="3005847" cy="148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57" b="true">
                <a:solidFill>
                  <a:srgbClr val="0818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Jam posting</a:t>
            </a:r>
          </a:p>
          <a:p>
            <a:pPr algn="l">
              <a:lnSpc>
                <a:spcPts val="4054"/>
              </a:lnSpc>
            </a:pPr>
            <a:r>
              <a:rPr lang="en-US" sz="2896" spc="-57" b="true">
                <a:solidFill>
                  <a:srgbClr val="0818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ditebak, bukan</a:t>
            </a:r>
          </a:p>
          <a:p>
            <a:pPr algn="l">
              <a:lnSpc>
                <a:spcPts val="4054"/>
              </a:lnSpc>
            </a:pPr>
            <a:r>
              <a:rPr lang="en-US" sz="2896" spc="-57" b="true">
                <a:solidFill>
                  <a:srgbClr val="0818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dihitung dari data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64086" y="5783021"/>
            <a:ext cx="8279914" cy="3432644"/>
          </a:xfrm>
          <a:custGeom>
            <a:avLst/>
            <a:gdLst/>
            <a:ahLst/>
            <a:cxnLst/>
            <a:rect r="r" b="b" t="t" l="l"/>
            <a:pathLst>
              <a:path h="3432644" w="8279914">
                <a:moveTo>
                  <a:pt x="0" y="0"/>
                </a:moveTo>
                <a:lnTo>
                  <a:pt x="8279914" y="0"/>
                </a:lnTo>
                <a:lnTo>
                  <a:pt x="8279914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20354" y="6428009"/>
            <a:ext cx="1750048" cy="1934962"/>
          </a:xfrm>
          <a:custGeom>
            <a:avLst/>
            <a:gdLst/>
            <a:ahLst/>
            <a:cxnLst/>
            <a:rect r="r" b="b" t="t" l="l"/>
            <a:pathLst>
              <a:path h="1934962" w="1750048">
                <a:moveTo>
                  <a:pt x="0" y="0"/>
                </a:moveTo>
                <a:lnTo>
                  <a:pt x="1750048" y="0"/>
                </a:lnTo>
                <a:lnTo>
                  <a:pt x="1750048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478220" y="6428009"/>
            <a:ext cx="448450" cy="2153601"/>
          </a:xfrm>
          <a:custGeom>
            <a:avLst/>
            <a:gdLst/>
            <a:ahLst/>
            <a:cxnLst/>
            <a:rect r="r" b="b" t="t" l="l"/>
            <a:pathLst>
              <a:path h="2153601" w="448450">
                <a:moveTo>
                  <a:pt x="0" y="0"/>
                </a:moveTo>
                <a:lnTo>
                  <a:pt x="448450" y="0"/>
                </a:lnTo>
                <a:lnTo>
                  <a:pt x="44845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140676" y="6617320"/>
            <a:ext cx="3841757" cy="148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57" b="true">
                <a:solidFill>
                  <a:srgbClr val="0818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Konten antar cabang</a:t>
            </a:r>
          </a:p>
          <a:p>
            <a:pPr algn="l">
              <a:lnSpc>
                <a:spcPts val="4054"/>
              </a:lnSpc>
            </a:pPr>
            <a:r>
              <a:rPr lang="en-US" sz="2896" spc="-57" b="true">
                <a:solidFill>
                  <a:srgbClr val="0818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mirip sehingga terlihat</a:t>
            </a:r>
          </a:p>
          <a:p>
            <a:pPr algn="l">
              <a:lnSpc>
                <a:spcPts val="4054"/>
              </a:lnSpc>
            </a:pPr>
            <a:r>
              <a:rPr lang="en-US" sz="2896" spc="-57" b="true">
                <a:solidFill>
                  <a:srgbClr val="0818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seperti salinan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144000" y="5783021"/>
            <a:ext cx="7842402" cy="3432644"/>
          </a:xfrm>
          <a:custGeom>
            <a:avLst/>
            <a:gdLst/>
            <a:ahLst/>
            <a:cxnLst/>
            <a:rect r="r" b="b" t="t" l="l"/>
            <a:pathLst>
              <a:path h="3432644" w="7842402">
                <a:moveTo>
                  <a:pt x="0" y="0"/>
                </a:moveTo>
                <a:lnTo>
                  <a:pt x="7842402" y="0"/>
                </a:lnTo>
                <a:lnTo>
                  <a:pt x="7842402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789330" y="6635716"/>
            <a:ext cx="1542230" cy="1727254"/>
          </a:xfrm>
          <a:custGeom>
            <a:avLst/>
            <a:gdLst/>
            <a:ahLst/>
            <a:cxnLst/>
            <a:rect r="r" b="b" t="t" l="l"/>
            <a:pathLst>
              <a:path h="1727254" w="1542230">
                <a:moveTo>
                  <a:pt x="0" y="0"/>
                </a:moveTo>
                <a:lnTo>
                  <a:pt x="1542230" y="0"/>
                </a:lnTo>
                <a:lnTo>
                  <a:pt x="154223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747196" y="6428009"/>
            <a:ext cx="229694" cy="2153601"/>
          </a:xfrm>
          <a:custGeom>
            <a:avLst/>
            <a:gdLst/>
            <a:ahLst/>
            <a:cxnLst/>
            <a:rect r="r" b="b" t="t" l="l"/>
            <a:pathLst>
              <a:path h="2153601" w="229694">
                <a:moveTo>
                  <a:pt x="0" y="0"/>
                </a:moveTo>
                <a:lnTo>
                  <a:pt x="229694" y="0"/>
                </a:lnTo>
                <a:lnTo>
                  <a:pt x="22969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338262" y="6617320"/>
            <a:ext cx="3828492" cy="148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57" b="true">
                <a:solidFill>
                  <a:srgbClr val="0818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AI umum mengarang</a:t>
            </a:r>
          </a:p>
          <a:p>
            <a:pPr algn="l">
              <a:lnSpc>
                <a:spcPts val="4054"/>
              </a:lnSpc>
            </a:pPr>
            <a:r>
              <a:rPr lang="en-US" sz="2896" spc="-57" b="true">
                <a:solidFill>
                  <a:srgbClr val="0818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harga dan promo</a:t>
            </a:r>
          </a:p>
          <a:p>
            <a:pPr algn="l">
              <a:lnSpc>
                <a:spcPts val="4054"/>
              </a:lnSpc>
            </a:pPr>
            <a:r>
              <a:rPr lang="en-US" sz="2896" spc="-57" b="true">
                <a:solidFill>
                  <a:srgbClr val="0818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yang tidak pernah ada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3858" y="740714"/>
            <a:ext cx="11339156" cy="928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8"/>
              </a:lnSpc>
            </a:pPr>
            <a:r>
              <a:rPr lang="en-US" sz="6206" spc="-60" b="true">
                <a:solidFill>
                  <a:srgbClr val="111D3F"/>
                </a:solidFill>
                <a:latin typeface="Inter Bold"/>
                <a:ea typeface="Inter Bold"/>
                <a:cs typeface="Inter Bold"/>
                <a:sym typeface="Inter Bold"/>
              </a:rPr>
              <a:t>Cara kerja dalam empat tahap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705390"/>
            <a:ext cx="1968804" cy="448211"/>
          </a:xfrm>
          <a:custGeom>
            <a:avLst/>
            <a:gdLst/>
            <a:ahLst/>
            <a:cxnLst/>
            <a:rect r="r" b="b" t="t" l="l"/>
            <a:pathLst>
              <a:path h="448211" w="1968804">
                <a:moveTo>
                  <a:pt x="0" y="0"/>
                </a:moveTo>
                <a:lnTo>
                  <a:pt x="1968804" y="0"/>
                </a:lnTo>
                <a:lnTo>
                  <a:pt x="196880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03196" y="2776725"/>
            <a:ext cx="4801694" cy="874559"/>
          </a:xfrm>
          <a:custGeom>
            <a:avLst/>
            <a:gdLst/>
            <a:ahLst/>
            <a:cxnLst/>
            <a:rect r="r" b="b" t="t" l="l"/>
            <a:pathLst>
              <a:path h="874559" w="4801694">
                <a:moveTo>
                  <a:pt x="0" y="0"/>
                </a:moveTo>
                <a:lnTo>
                  <a:pt x="4801694" y="0"/>
                </a:lnTo>
                <a:lnTo>
                  <a:pt x="4801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42293" y="2683563"/>
            <a:ext cx="2889114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b="true" sz="2575" spc="-25">
                <a:solidFill>
                  <a:srgbClr val="0B92A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Diulang setiap hari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883110" y="2776725"/>
            <a:ext cx="4582938" cy="874559"/>
          </a:xfrm>
          <a:custGeom>
            <a:avLst/>
            <a:gdLst/>
            <a:ahLst/>
            <a:cxnLst/>
            <a:rect r="r" b="b" t="t" l="l"/>
            <a:pathLst>
              <a:path h="874559" w="4582938">
                <a:moveTo>
                  <a:pt x="0" y="0"/>
                </a:moveTo>
                <a:lnTo>
                  <a:pt x="4582938" y="0"/>
                </a:lnTo>
                <a:lnTo>
                  <a:pt x="458293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2842" y="3640352"/>
            <a:ext cx="3489158" cy="5367606"/>
          </a:xfrm>
          <a:custGeom>
            <a:avLst/>
            <a:gdLst/>
            <a:ahLst/>
            <a:cxnLst/>
            <a:rect r="r" b="b" t="t" l="l"/>
            <a:pathLst>
              <a:path h="5367606" w="3489158">
                <a:moveTo>
                  <a:pt x="0" y="0"/>
                </a:moveTo>
                <a:lnTo>
                  <a:pt x="3489158" y="0"/>
                </a:lnTo>
                <a:lnTo>
                  <a:pt x="3489158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2842" y="3640352"/>
            <a:ext cx="3489158" cy="1289974"/>
          </a:xfrm>
          <a:custGeom>
            <a:avLst/>
            <a:gdLst/>
            <a:ahLst/>
            <a:cxnLst/>
            <a:rect r="r" b="b" t="t" l="l"/>
            <a:pathLst>
              <a:path h="1289974" w="3489158">
                <a:moveTo>
                  <a:pt x="0" y="0"/>
                </a:moveTo>
                <a:lnTo>
                  <a:pt x="3489158" y="0"/>
                </a:lnTo>
                <a:lnTo>
                  <a:pt x="348915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90802" y="3933612"/>
            <a:ext cx="780724" cy="83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6"/>
              </a:lnSpc>
            </a:pPr>
            <a:r>
              <a:rPr lang="en-US" b="true" sz="5554" spc="-5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18945" y="5319210"/>
            <a:ext cx="2004422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b="true" sz="2575" spc="-25">
                <a:solidFill>
                  <a:srgbClr val="111D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Riset dan Ide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4901" y="6036444"/>
            <a:ext cx="2548577" cy="228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5"/>
              </a:lnSpc>
            </a:pPr>
            <a:r>
              <a:rPr lang="en-US" b="true" sz="2047" spc="-19">
                <a:solidFill>
                  <a:srgbClr val="2F323A"/>
                </a:solidFill>
                <a:latin typeface="Inter Medium"/>
                <a:ea typeface="Inter Medium"/>
                <a:cs typeface="Inter Medium"/>
                <a:sym typeface="Inter Medium"/>
              </a:rPr>
              <a:t>Membaca posting terbaik akun sendiri, tren pencarian Indonesia, dan momen kalender.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572000" y="5138034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217330" y="3640352"/>
            <a:ext cx="3500096" cy="5367606"/>
          </a:xfrm>
          <a:custGeom>
            <a:avLst/>
            <a:gdLst/>
            <a:ahLst/>
            <a:cxnLst/>
            <a:rect r="r" b="b" t="t" l="l"/>
            <a:pathLst>
              <a:path h="5367606" w="3500096">
                <a:moveTo>
                  <a:pt x="0" y="0"/>
                </a:moveTo>
                <a:lnTo>
                  <a:pt x="3500096" y="0"/>
                </a:lnTo>
                <a:lnTo>
                  <a:pt x="3500096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217330" y="3640352"/>
            <a:ext cx="3500096" cy="1289974"/>
          </a:xfrm>
          <a:custGeom>
            <a:avLst/>
            <a:gdLst/>
            <a:ahLst/>
            <a:cxnLst/>
            <a:rect r="r" b="b" t="t" l="l"/>
            <a:pathLst>
              <a:path h="1289974" w="3500096">
                <a:moveTo>
                  <a:pt x="0" y="0"/>
                </a:moveTo>
                <a:lnTo>
                  <a:pt x="3500096" y="0"/>
                </a:lnTo>
                <a:lnTo>
                  <a:pt x="350009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543191" y="3933612"/>
            <a:ext cx="926977" cy="83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6"/>
              </a:lnSpc>
            </a:pPr>
            <a:r>
              <a:rPr lang="en-US" b="true" sz="5554" spc="-5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57336" y="5319210"/>
            <a:ext cx="2656361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b="true" sz="2575" spc="-25">
                <a:solidFill>
                  <a:srgbClr val="111D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Tulis dan Periksa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41596" y="6036441"/>
            <a:ext cx="2526953" cy="228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5"/>
              </a:lnSpc>
            </a:pPr>
            <a:r>
              <a:rPr lang="en-US" b="true" sz="2047" spc="-19">
                <a:solidFill>
                  <a:srgbClr val="2F323A"/>
                </a:solidFill>
                <a:latin typeface="Inter Medium"/>
                <a:ea typeface="Inter Medium"/>
                <a:cs typeface="Inter Medium"/>
                <a:sym typeface="Inter Medium"/>
              </a:rPr>
              <a:t>Draf ditulis</a:t>
            </a:r>
          </a:p>
          <a:p>
            <a:pPr algn="ctr">
              <a:lnSpc>
                <a:spcPts val="3685"/>
              </a:lnSpc>
            </a:pPr>
            <a:r>
              <a:rPr lang="en-US" b="true" sz="2047" spc="-19">
                <a:solidFill>
                  <a:srgbClr val="2F323A"/>
                </a:solidFill>
                <a:latin typeface="Inter Medium"/>
                <a:ea typeface="Inter Medium"/>
                <a:cs typeface="Inter Medium"/>
                <a:sym typeface="Inter Medium"/>
              </a:rPr>
              <a:t>dengan suara brand lalu melewati</a:t>
            </a:r>
          </a:p>
          <a:p>
            <a:pPr algn="ctr">
              <a:lnSpc>
                <a:spcPts val="3685"/>
              </a:lnSpc>
            </a:pPr>
            <a:r>
              <a:rPr lang="en-US" b="true" sz="2047" spc="-19">
                <a:solidFill>
                  <a:srgbClr val="2F323A"/>
                </a:solidFill>
                <a:latin typeface="Inter Medium"/>
                <a:ea typeface="Inter Medium"/>
                <a:cs typeface="Inter Medium"/>
                <a:sym typeface="Inter Medium"/>
              </a:rPr>
              <a:t>gerbang kualitas berlapis.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706488" y="5138034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351818" y="3640352"/>
            <a:ext cx="3718852" cy="5367606"/>
          </a:xfrm>
          <a:custGeom>
            <a:avLst/>
            <a:gdLst/>
            <a:ahLst/>
            <a:cxnLst/>
            <a:rect r="r" b="b" t="t" l="l"/>
            <a:pathLst>
              <a:path h="5367606" w="3718852">
                <a:moveTo>
                  <a:pt x="0" y="0"/>
                </a:moveTo>
                <a:lnTo>
                  <a:pt x="3718852" y="0"/>
                </a:lnTo>
                <a:lnTo>
                  <a:pt x="3718852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570574" y="3640352"/>
            <a:ext cx="3281340" cy="1289974"/>
          </a:xfrm>
          <a:custGeom>
            <a:avLst/>
            <a:gdLst/>
            <a:ahLst/>
            <a:cxnLst/>
            <a:rect r="r" b="b" t="t" l="l"/>
            <a:pathLst>
              <a:path h="1289974" w="3281340">
                <a:moveTo>
                  <a:pt x="0" y="0"/>
                </a:moveTo>
                <a:lnTo>
                  <a:pt x="3281340" y="0"/>
                </a:lnTo>
                <a:lnTo>
                  <a:pt x="328134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769635" y="3933612"/>
            <a:ext cx="939431" cy="83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6"/>
              </a:lnSpc>
            </a:pPr>
            <a:r>
              <a:rPr lang="en-US" b="true" sz="5554" spc="-5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79246" y="5319210"/>
            <a:ext cx="2794838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b="true" sz="2575" spc="-25">
                <a:solidFill>
                  <a:srgbClr val="111D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Jadwal dan Terbit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47785" y="6036442"/>
            <a:ext cx="2326339" cy="182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5"/>
              </a:lnSpc>
            </a:pPr>
            <a:r>
              <a:rPr lang="en-US" b="true" sz="2047" spc="-19">
                <a:solidFill>
                  <a:srgbClr val="2F323A"/>
                </a:solidFill>
                <a:latin typeface="Inter Medium"/>
                <a:ea typeface="Inter Medium"/>
                <a:cs typeface="Inter Medium"/>
                <a:sym typeface="Inter Medium"/>
              </a:rPr>
              <a:t>Dipasang di jam</a:t>
            </a:r>
          </a:p>
          <a:p>
            <a:pPr algn="ctr">
              <a:lnSpc>
                <a:spcPts val="3685"/>
              </a:lnSpc>
            </a:pPr>
            <a:r>
              <a:rPr lang="en-US" b="true" sz="2047" spc="-19">
                <a:solidFill>
                  <a:srgbClr val="2F323A"/>
                </a:solidFill>
                <a:latin typeface="Inter Medium"/>
                <a:ea typeface="Inter Medium"/>
                <a:cs typeface="Inter Medium"/>
                <a:sym typeface="Inter Medium"/>
              </a:rPr>
              <a:t>ramai akun lalu dikirim ke Threads lewat antrean.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2840976" y="5138034"/>
            <a:ext cx="875024" cy="655919"/>
          </a:xfrm>
          <a:custGeom>
            <a:avLst/>
            <a:gdLst/>
            <a:ahLst/>
            <a:cxnLst/>
            <a:rect r="r" b="b" t="t" l="l"/>
            <a:pathLst>
              <a:path h="655919" w="875024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716000" y="3640352"/>
            <a:ext cx="3489158" cy="5367606"/>
          </a:xfrm>
          <a:custGeom>
            <a:avLst/>
            <a:gdLst/>
            <a:ahLst/>
            <a:cxnLst/>
            <a:rect r="r" b="b" t="t" l="l"/>
            <a:pathLst>
              <a:path h="5367606" w="3489158">
                <a:moveTo>
                  <a:pt x="0" y="0"/>
                </a:moveTo>
                <a:lnTo>
                  <a:pt x="3489158" y="0"/>
                </a:lnTo>
                <a:lnTo>
                  <a:pt x="3489158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716000" y="3640352"/>
            <a:ext cx="3270402" cy="1289974"/>
          </a:xfrm>
          <a:custGeom>
            <a:avLst/>
            <a:gdLst/>
            <a:ahLst/>
            <a:cxnLst/>
            <a:rect r="r" b="b" t="t" l="l"/>
            <a:pathLst>
              <a:path h="1289974" w="3270402">
                <a:moveTo>
                  <a:pt x="0" y="0"/>
                </a:moveTo>
                <a:lnTo>
                  <a:pt x="3270402" y="0"/>
                </a:lnTo>
                <a:lnTo>
                  <a:pt x="327040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4856619" y="3933612"/>
            <a:ext cx="962917" cy="83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6"/>
              </a:lnSpc>
            </a:pPr>
            <a:r>
              <a:rPr lang="en-US" b="true" sz="5554" spc="-5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877269" y="5319210"/>
            <a:ext cx="1069493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b="true" sz="2575" spc="-25">
                <a:solidFill>
                  <a:srgbClr val="111D3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Belajar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098427" y="6036442"/>
            <a:ext cx="2479302" cy="136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5"/>
              </a:lnSpc>
            </a:pPr>
            <a:r>
              <a:rPr lang="en-US" b="true" sz="2047" spc="-19">
                <a:solidFill>
                  <a:srgbClr val="2F323A"/>
                </a:solidFill>
                <a:latin typeface="Inter Medium"/>
                <a:ea typeface="Inter Medium"/>
                <a:cs typeface="Inter Medium"/>
                <a:sym typeface="Inter Medium"/>
              </a:rPr>
              <a:t>Hasil tiap posting dipakai memilih ide dan jam berikutnya.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7690" y="823569"/>
            <a:ext cx="12277082" cy="1037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2"/>
              </a:lnSpc>
            </a:pPr>
            <a:r>
              <a:rPr lang="en-US" sz="7822" spc="-156" b="true">
                <a:solidFill>
                  <a:srgbClr val="082444"/>
                </a:solidFill>
                <a:latin typeface="Inter Bold"/>
                <a:ea typeface="Inter Bold"/>
                <a:cs typeface="Inter Bold"/>
                <a:sym typeface="Inter Bold"/>
              </a:rPr>
              <a:t>Kenapa harus BotThreads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924030"/>
            <a:ext cx="2843828" cy="437279"/>
          </a:xfrm>
          <a:custGeom>
            <a:avLst/>
            <a:gdLst/>
            <a:ahLst/>
            <a:cxnLst/>
            <a:rect r="r" b="b" t="t" l="l"/>
            <a:pathLst>
              <a:path h="437279" w="2843828">
                <a:moveTo>
                  <a:pt x="0" y="0"/>
                </a:moveTo>
                <a:lnTo>
                  <a:pt x="2843828" y="0"/>
                </a:lnTo>
                <a:lnTo>
                  <a:pt x="284382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2842" y="2350377"/>
            <a:ext cx="7853340" cy="3443576"/>
          </a:xfrm>
          <a:custGeom>
            <a:avLst/>
            <a:gdLst/>
            <a:ahLst/>
            <a:cxnLst/>
            <a:rect r="r" b="b" t="t" l="l"/>
            <a:pathLst>
              <a:path h="3443576" w="7853340">
                <a:moveTo>
                  <a:pt x="0" y="0"/>
                </a:moveTo>
                <a:lnTo>
                  <a:pt x="7853340" y="0"/>
                </a:lnTo>
                <a:lnTo>
                  <a:pt x="7853340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354" y="2995365"/>
            <a:ext cx="1312536" cy="1300906"/>
          </a:xfrm>
          <a:custGeom>
            <a:avLst/>
            <a:gdLst/>
            <a:ahLst/>
            <a:cxnLst/>
            <a:rect r="r" b="b" t="t" l="l"/>
            <a:pathLst>
              <a:path h="1300906" w="1312536">
                <a:moveTo>
                  <a:pt x="0" y="0"/>
                </a:moveTo>
                <a:lnTo>
                  <a:pt x="1312536" y="0"/>
                </a:lnTo>
                <a:lnTo>
                  <a:pt x="131253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35705" y="3366938"/>
            <a:ext cx="670026" cy="63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2"/>
              </a:lnSpc>
            </a:pPr>
            <a:r>
              <a:rPr lang="en-US" b="true" sz="4862" spc="-9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20354" y="5138034"/>
            <a:ext cx="1312536" cy="437279"/>
          </a:xfrm>
          <a:custGeom>
            <a:avLst/>
            <a:gdLst/>
            <a:ahLst/>
            <a:cxnLst/>
            <a:rect r="r" b="b" t="t" l="l"/>
            <a:pathLst>
              <a:path h="437279" w="1312536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22671" y="3087949"/>
            <a:ext cx="3843866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spc="-63" b="true">
                <a:solidFill>
                  <a:srgbClr val="082444"/>
                </a:solidFill>
                <a:latin typeface="Inter Bold"/>
                <a:ea typeface="Inter Bold"/>
                <a:cs typeface="Inter Bold"/>
                <a:sym typeface="Inter Bold"/>
              </a:rPr>
              <a:t>Hemat jam kerja tim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61109" y="3680232"/>
            <a:ext cx="5170289" cy="142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5"/>
              </a:lnSpc>
            </a:pPr>
            <a:r>
              <a:rPr lang="en-US" sz="2454" spc="-49" b="true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Puluhan akun berjalan dari satu dashboard, tim cukup menentukan arah dan mengawasi.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144000" y="2350377"/>
            <a:ext cx="7842402" cy="3443576"/>
          </a:xfrm>
          <a:custGeom>
            <a:avLst/>
            <a:gdLst/>
            <a:ahLst/>
            <a:cxnLst/>
            <a:rect r="r" b="b" t="t" l="l"/>
            <a:pathLst>
              <a:path h="3443576" w="7842402">
                <a:moveTo>
                  <a:pt x="0" y="0"/>
                </a:moveTo>
                <a:lnTo>
                  <a:pt x="7842402" y="0"/>
                </a:lnTo>
                <a:lnTo>
                  <a:pt x="7842402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570574" y="2995365"/>
            <a:ext cx="1323474" cy="1300906"/>
          </a:xfrm>
          <a:custGeom>
            <a:avLst/>
            <a:gdLst/>
            <a:ahLst/>
            <a:cxnLst/>
            <a:rect r="r" b="b" t="t" l="l"/>
            <a:pathLst>
              <a:path h="1300906" w="1323474">
                <a:moveTo>
                  <a:pt x="0" y="0"/>
                </a:moveTo>
                <a:lnTo>
                  <a:pt x="1323474" y="0"/>
                </a:lnTo>
                <a:lnTo>
                  <a:pt x="1323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808440" y="3366938"/>
            <a:ext cx="797993" cy="63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2"/>
              </a:lnSpc>
            </a:pPr>
            <a:r>
              <a:rPr lang="en-US" b="true" sz="4862" spc="-9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570574" y="5138034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182263" y="3087949"/>
            <a:ext cx="4235419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spc="-63" b="true">
                <a:solidFill>
                  <a:srgbClr val="082444"/>
                </a:solidFill>
                <a:latin typeface="Inter Bold"/>
                <a:ea typeface="Inter Bold"/>
                <a:cs typeface="Inter Bold"/>
                <a:sym typeface="Inter Bold"/>
              </a:rPr>
              <a:t>Bebas konten ngawur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24617" y="3680232"/>
            <a:ext cx="5170289" cy="142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5"/>
              </a:lnSpc>
            </a:pPr>
            <a:r>
              <a:rPr lang="en-US" sz="2454" spc="-49" b="true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Setiap harga, angka, dan promo</a:t>
            </a:r>
          </a:p>
          <a:p>
            <a:pPr algn="l">
              <a:lnSpc>
                <a:spcPts val="3925"/>
              </a:lnSpc>
            </a:pPr>
            <a:r>
              <a:rPr lang="en-US" sz="2454" spc="-49" b="true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wajib ada di data brand, draf yang</a:t>
            </a:r>
          </a:p>
          <a:p>
            <a:pPr algn="l">
              <a:lnSpc>
                <a:spcPts val="3925"/>
              </a:lnSpc>
            </a:pPr>
            <a:r>
              <a:rPr lang="en-US" sz="2454" spc="-49" b="true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mengarang ditolak otomatis.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82842" y="5990729"/>
            <a:ext cx="7853340" cy="3443576"/>
          </a:xfrm>
          <a:custGeom>
            <a:avLst/>
            <a:gdLst/>
            <a:ahLst/>
            <a:cxnLst/>
            <a:rect r="r" b="b" t="t" l="l"/>
            <a:pathLst>
              <a:path h="3443576" w="7853340">
                <a:moveTo>
                  <a:pt x="0" y="0"/>
                </a:moveTo>
                <a:lnTo>
                  <a:pt x="7853340" y="0"/>
                </a:lnTo>
                <a:lnTo>
                  <a:pt x="7853340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20354" y="6635716"/>
            <a:ext cx="1312536" cy="1300906"/>
          </a:xfrm>
          <a:custGeom>
            <a:avLst/>
            <a:gdLst/>
            <a:ahLst/>
            <a:cxnLst/>
            <a:rect r="r" b="b" t="t" l="l"/>
            <a:pathLst>
              <a:path h="1300906" w="1312536">
                <a:moveTo>
                  <a:pt x="0" y="0"/>
                </a:moveTo>
                <a:lnTo>
                  <a:pt x="1312536" y="0"/>
                </a:lnTo>
                <a:lnTo>
                  <a:pt x="131253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66273" y="6981540"/>
            <a:ext cx="808890" cy="63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2"/>
              </a:lnSpc>
            </a:pPr>
            <a:r>
              <a:rPr lang="en-US" b="true" sz="4862" spc="-9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20354" y="8778386"/>
            <a:ext cx="1312536" cy="229572"/>
          </a:xfrm>
          <a:custGeom>
            <a:avLst/>
            <a:gdLst/>
            <a:ahLst/>
            <a:cxnLst/>
            <a:rect r="r" b="b" t="t" l="l"/>
            <a:pathLst>
              <a:path h="229572" w="1312536">
                <a:moveTo>
                  <a:pt x="0" y="0"/>
                </a:moveTo>
                <a:lnTo>
                  <a:pt x="1312536" y="0"/>
                </a:lnTo>
                <a:lnTo>
                  <a:pt x="131253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116885" y="6687490"/>
            <a:ext cx="4422389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spc="-63" b="true">
                <a:solidFill>
                  <a:srgbClr val="082444"/>
                </a:solidFill>
                <a:latin typeface="Inter Bold"/>
                <a:ea typeface="Inter Bold"/>
                <a:cs typeface="Inter Bold"/>
                <a:sym typeface="Inter Bold"/>
              </a:rPr>
              <a:t>Tiap cabang tetap unik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61109" y="7279773"/>
            <a:ext cx="5170289" cy="142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5"/>
              </a:lnSpc>
            </a:pPr>
            <a:r>
              <a:rPr lang="en-US" sz="2454" spc="-49" b="true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Draf yang mirip dengan akun lain</a:t>
            </a:r>
          </a:p>
          <a:p>
            <a:pPr algn="l">
              <a:lnSpc>
                <a:spcPts val="3925"/>
              </a:lnSpc>
            </a:pPr>
            <a:r>
              <a:rPr lang="en-US" sz="2454" spc="-49" b="true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di hari yang sama atau 15 posting</a:t>
            </a:r>
          </a:p>
          <a:p>
            <a:pPr algn="l">
              <a:lnSpc>
                <a:spcPts val="3925"/>
              </a:lnSpc>
            </a:pPr>
            <a:r>
              <a:rPr lang="en-US" sz="2454" spc="-49" b="true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terakhir ditolak.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144000" y="5990729"/>
            <a:ext cx="7842402" cy="3443576"/>
          </a:xfrm>
          <a:custGeom>
            <a:avLst/>
            <a:gdLst/>
            <a:ahLst/>
            <a:cxnLst/>
            <a:rect r="r" b="b" t="t" l="l"/>
            <a:pathLst>
              <a:path h="3443576" w="7842402">
                <a:moveTo>
                  <a:pt x="0" y="0"/>
                </a:moveTo>
                <a:lnTo>
                  <a:pt x="7842402" y="0"/>
                </a:lnTo>
                <a:lnTo>
                  <a:pt x="7842402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570574" y="6635716"/>
            <a:ext cx="1323474" cy="1300906"/>
          </a:xfrm>
          <a:custGeom>
            <a:avLst/>
            <a:gdLst/>
            <a:ahLst/>
            <a:cxnLst/>
            <a:rect r="r" b="b" t="t" l="l"/>
            <a:pathLst>
              <a:path h="1300906" w="1323474">
                <a:moveTo>
                  <a:pt x="0" y="0"/>
                </a:moveTo>
                <a:lnTo>
                  <a:pt x="1323474" y="0"/>
                </a:lnTo>
                <a:lnTo>
                  <a:pt x="132347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792717" y="6981540"/>
            <a:ext cx="829439" cy="63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2"/>
              </a:lnSpc>
            </a:pPr>
            <a:r>
              <a:rPr lang="en-US" b="true" sz="4862" spc="-9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9570574" y="8778386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172806" y="6868220"/>
            <a:ext cx="5181137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 spc="-63" b="true">
                <a:solidFill>
                  <a:srgbClr val="082444"/>
                </a:solidFill>
                <a:latin typeface="Inter Bold"/>
                <a:ea typeface="Inter Bold"/>
                <a:cs typeface="Inter Bold"/>
                <a:sym typeface="Inter Bold"/>
              </a:rPr>
              <a:t>Tayang di jam paling ramai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24617" y="7476976"/>
            <a:ext cx="5170289" cy="90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321" spc="-46" b="true">
                <a:solidFill>
                  <a:srgbClr val="44444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Jadwal dihitung dari data views tiap akun dan terus diperbaiki dari hasil.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1229" y="730924"/>
            <a:ext cx="6923232" cy="2026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5"/>
              </a:lnSpc>
            </a:pPr>
            <a:r>
              <a:rPr lang="en-US" sz="7442" spc="-72" b="true">
                <a:solidFill>
                  <a:srgbClr val="052B50"/>
                </a:solidFill>
                <a:latin typeface="Inter Bold"/>
                <a:ea typeface="Inter Bold"/>
                <a:cs typeface="Inter Bold"/>
                <a:sym typeface="Inter Bold"/>
              </a:rPr>
              <a:t>Kontrol tetap</a:t>
            </a:r>
          </a:p>
          <a:p>
            <a:pPr algn="l">
              <a:lnSpc>
                <a:spcPts val="7965"/>
              </a:lnSpc>
            </a:pPr>
            <a:r>
              <a:rPr lang="en-US" sz="7442" spc="-72" b="true">
                <a:solidFill>
                  <a:srgbClr val="052B50"/>
                </a:solidFill>
                <a:latin typeface="Inter Bold"/>
                <a:ea typeface="Inter Bold"/>
                <a:cs typeface="Inter Bold"/>
                <a:sym typeface="Inter Bold"/>
              </a:rPr>
              <a:t>di tangan Anda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776725"/>
            <a:ext cx="2843828" cy="448211"/>
          </a:xfrm>
          <a:custGeom>
            <a:avLst/>
            <a:gdLst/>
            <a:ahLst/>
            <a:cxnLst/>
            <a:rect r="r" b="b" t="t" l="l"/>
            <a:pathLst>
              <a:path h="448211" w="2843828">
                <a:moveTo>
                  <a:pt x="0" y="0"/>
                </a:moveTo>
                <a:lnTo>
                  <a:pt x="2843828" y="0"/>
                </a:lnTo>
                <a:lnTo>
                  <a:pt x="2843828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2842" y="3421712"/>
            <a:ext cx="7853340" cy="6012593"/>
          </a:xfrm>
          <a:custGeom>
            <a:avLst/>
            <a:gdLst/>
            <a:ahLst/>
            <a:cxnLst/>
            <a:rect r="r" b="b" t="t" l="l"/>
            <a:pathLst>
              <a:path h="6012593" w="7853340">
                <a:moveTo>
                  <a:pt x="0" y="0"/>
                </a:moveTo>
                <a:lnTo>
                  <a:pt x="7853340" y="0"/>
                </a:lnTo>
                <a:lnTo>
                  <a:pt x="7853340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2842" y="3421712"/>
            <a:ext cx="7853340" cy="1300906"/>
          </a:xfrm>
          <a:custGeom>
            <a:avLst/>
            <a:gdLst/>
            <a:ahLst/>
            <a:cxnLst/>
            <a:rect r="r" b="b" t="t" l="l"/>
            <a:pathLst>
              <a:path h="1300906" w="7853340">
                <a:moveTo>
                  <a:pt x="0" y="0"/>
                </a:moveTo>
                <a:lnTo>
                  <a:pt x="7853340" y="0"/>
                </a:lnTo>
                <a:lnTo>
                  <a:pt x="785334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0354" y="3640352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66839" y="3777227"/>
            <a:ext cx="3885608" cy="578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1"/>
              </a:lnSpc>
            </a:pPr>
            <a:r>
              <a:rPr lang="en-US" sz="3234" spc="-64" b="true">
                <a:solidFill>
                  <a:srgbClr val="F7F9F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Pengaman otomatis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4860" y="4910835"/>
            <a:ext cx="3964003" cy="90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 b="true">
                <a:solidFill>
                  <a:srgbClr val="494E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gerbang kualitas lima lapis</a:t>
            </a:r>
          </a:p>
          <a:p>
            <a:pPr algn="l">
              <a:lnSpc>
                <a:spcPts val="3730"/>
              </a:lnSpc>
            </a:pPr>
            <a:r>
              <a:rPr lang="en-US" sz="2487" spc="-49" b="true">
                <a:solidFill>
                  <a:srgbClr val="494E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sebelum masuk antrean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20354" y="5990729"/>
            <a:ext cx="6978316" cy="229572"/>
          </a:xfrm>
          <a:custGeom>
            <a:avLst/>
            <a:gdLst/>
            <a:ahLst/>
            <a:cxnLst/>
            <a:rect r="r" b="b" t="t" l="l"/>
            <a:pathLst>
              <a:path h="229572" w="6978316">
                <a:moveTo>
                  <a:pt x="0" y="0"/>
                </a:moveTo>
                <a:lnTo>
                  <a:pt x="6978316" y="0"/>
                </a:lnTo>
                <a:lnTo>
                  <a:pt x="697831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77237" y="6462101"/>
            <a:ext cx="3726282" cy="90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 b="true">
                <a:solidFill>
                  <a:srgbClr val="494E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akun dijeda otomatis</a:t>
            </a:r>
          </a:p>
          <a:p>
            <a:pPr algn="l">
              <a:lnSpc>
                <a:spcPts val="3730"/>
              </a:lnSpc>
            </a:pPr>
            <a:r>
              <a:rPr lang="en-US" sz="2487" spc="-49" b="true">
                <a:solidFill>
                  <a:srgbClr val="494E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setelah 3 kali gagal terbit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20354" y="7499343"/>
            <a:ext cx="6978316" cy="218640"/>
          </a:xfrm>
          <a:custGeom>
            <a:avLst/>
            <a:gdLst/>
            <a:ahLst/>
            <a:cxnLst/>
            <a:rect r="r" b="b" t="t" l="l"/>
            <a:pathLst>
              <a:path h="218640" w="6978316">
                <a:moveTo>
                  <a:pt x="0" y="0"/>
                </a:moveTo>
                <a:lnTo>
                  <a:pt x="6978316" y="0"/>
                </a:lnTo>
                <a:lnTo>
                  <a:pt x="697831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59598" y="8013368"/>
            <a:ext cx="5490181" cy="90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 b="true">
                <a:solidFill>
                  <a:srgbClr val="494E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mode turun ke Tinjau Dulu</a:t>
            </a:r>
          </a:p>
          <a:p>
            <a:pPr algn="l">
              <a:lnSpc>
                <a:spcPts val="3730"/>
              </a:lnSpc>
            </a:pPr>
            <a:r>
              <a:rPr lang="en-US" sz="2487" spc="-49" b="true">
                <a:solidFill>
                  <a:srgbClr val="494E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bila views anjlok lebih dari 50 persen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144000" y="3421712"/>
            <a:ext cx="7842402" cy="6012593"/>
          </a:xfrm>
          <a:custGeom>
            <a:avLst/>
            <a:gdLst/>
            <a:ahLst/>
            <a:cxnLst/>
            <a:rect r="r" b="b" t="t" l="l"/>
            <a:pathLst>
              <a:path h="6012593" w="7842402">
                <a:moveTo>
                  <a:pt x="0" y="0"/>
                </a:moveTo>
                <a:lnTo>
                  <a:pt x="7842402" y="0"/>
                </a:lnTo>
                <a:lnTo>
                  <a:pt x="7842402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144000" y="3421712"/>
            <a:ext cx="7842402" cy="1300906"/>
          </a:xfrm>
          <a:custGeom>
            <a:avLst/>
            <a:gdLst/>
            <a:ahLst/>
            <a:cxnLst/>
            <a:rect r="r" b="b" t="t" l="l"/>
            <a:pathLst>
              <a:path h="1300906" w="7842402">
                <a:moveTo>
                  <a:pt x="0" y="0"/>
                </a:moveTo>
                <a:lnTo>
                  <a:pt x="7842402" y="0"/>
                </a:lnTo>
                <a:lnTo>
                  <a:pt x="784240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675955" y="3777227"/>
            <a:ext cx="2168565" cy="578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1"/>
              </a:lnSpc>
            </a:pPr>
            <a:r>
              <a:rPr lang="en-US" sz="3234" spc="-64" b="true">
                <a:solidFill>
                  <a:srgbClr val="F7F9F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Kendali tim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52654" y="4910835"/>
            <a:ext cx="4498668" cy="90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 b="true">
                <a:solidFill>
                  <a:srgbClr val="494E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mode Tinjau Dulu,</a:t>
            </a:r>
          </a:p>
          <a:p>
            <a:pPr algn="l">
              <a:lnSpc>
                <a:spcPts val="3730"/>
              </a:lnSpc>
            </a:pPr>
            <a:r>
              <a:rPr lang="en-US" sz="2487" spc="-49" b="true">
                <a:solidFill>
                  <a:srgbClr val="494E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AI menulis dan tim menyetujui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570574" y="5990729"/>
            <a:ext cx="6978316" cy="229572"/>
          </a:xfrm>
          <a:custGeom>
            <a:avLst/>
            <a:gdLst/>
            <a:ahLst/>
            <a:cxnLst/>
            <a:rect r="r" b="b" t="t" l="l"/>
            <a:pathLst>
              <a:path h="229572" w="6978316">
                <a:moveTo>
                  <a:pt x="0" y="0"/>
                </a:moveTo>
                <a:lnTo>
                  <a:pt x="6978316" y="0"/>
                </a:lnTo>
                <a:lnTo>
                  <a:pt x="697831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634458" y="6462101"/>
            <a:ext cx="6318273" cy="90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 b="true">
                <a:solidFill>
                  <a:srgbClr val="494E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semua jadwal bisa diubah atau dibatalkan,</a:t>
            </a:r>
          </a:p>
          <a:p>
            <a:pPr algn="l">
              <a:lnSpc>
                <a:spcPts val="3730"/>
              </a:lnSpc>
            </a:pPr>
            <a:r>
              <a:rPr lang="en-US" sz="2487" spc="-49" b="true">
                <a:solidFill>
                  <a:srgbClr val="494E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batas posting harian, dan kill switch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570574" y="7499343"/>
            <a:ext cx="6978316" cy="218640"/>
          </a:xfrm>
          <a:custGeom>
            <a:avLst/>
            <a:gdLst/>
            <a:ahLst/>
            <a:cxnLst/>
            <a:rect r="r" b="b" t="t" l="l"/>
            <a:pathLst>
              <a:path h="218640" w="6978316">
                <a:moveTo>
                  <a:pt x="0" y="0"/>
                </a:moveTo>
                <a:lnTo>
                  <a:pt x="6978316" y="0"/>
                </a:lnTo>
                <a:lnTo>
                  <a:pt x="697831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661577" y="8013368"/>
            <a:ext cx="3606398" cy="90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 b="true">
                <a:solidFill>
                  <a:srgbClr val="494E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multiuser dengan peran</a:t>
            </a:r>
          </a:p>
          <a:p>
            <a:pPr algn="l">
              <a:lnSpc>
                <a:spcPts val="3730"/>
              </a:lnSpc>
            </a:pPr>
            <a:r>
              <a:rPr lang="en-US" sz="2487" spc="-49" b="true">
                <a:solidFill>
                  <a:srgbClr val="494E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dan workspace terpisah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2120" y="818521"/>
            <a:ext cx="10834128" cy="109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0"/>
              </a:lnSpc>
            </a:pPr>
            <a:r>
              <a:rPr lang="en-US" sz="8240" spc="-245" b="true">
                <a:solidFill>
                  <a:srgbClr val="0521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Manual vs BotThreads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924030"/>
            <a:ext cx="2843828" cy="437279"/>
          </a:xfrm>
          <a:custGeom>
            <a:avLst/>
            <a:gdLst/>
            <a:ahLst/>
            <a:cxnLst/>
            <a:rect r="r" b="b" t="t" l="l"/>
            <a:pathLst>
              <a:path h="437279" w="2843828">
                <a:moveTo>
                  <a:pt x="0" y="0"/>
                </a:moveTo>
                <a:lnTo>
                  <a:pt x="2843828" y="0"/>
                </a:lnTo>
                <a:lnTo>
                  <a:pt x="284382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4086" y="2569017"/>
            <a:ext cx="15903560" cy="6865288"/>
          </a:xfrm>
          <a:custGeom>
            <a:avLst/>
            <a:gdLst/>
            <a:ahLst/>
            <a:cxnLst/>
            <a:rect r="r" b="b" t="t" l="l"/>
            <a:pathLst>
              <a:path h="6865288" w="15903560">
                <a:moveTo>
                  <a:pt x="0" y="0"/>
                </a:moveTo>
                <a:lnTo>
                  <a:pt x="15903560" y="0"/>
                </a:lnTo>
                <a:lnTo>
                  <a:pt x="15903560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4086" y="2569017"/>
            <a:ext cx="3926670" cy="1289974"/>
          </a:xfrm>
          <a:custGeom>
            <a:avLst/>
            <a:gdLst/>
            <a:ahLst/>
            <a:cxnLst/>
            <a:rect r="r" b="b" t="t" l="l"/>
            <a:pathLst>
              <a:path h="1289974" w="3926670">
                <a:moveTo>
                  <a:pt x="0" y="0"/>
                </a:moveTo>
                <a:lnTo>
                  <a:pt x="3926670" y="0"/>
                </a:lnTo>
                <a:lnTo>
                  <a:pt x="392667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47291" y="3072888"/>
            <a:ext cx="1203069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94">
                <a:solidFill>
                  <a:srgbClr val="0521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Aspek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779818" y="2569017"/>
            <a:ext cx="6551742" cy="1289974"/>
          </a:xfrm>
          <a:custGeom>
            <a:avLst/>
            <a:gdLst/>
            <a:ahLst/>
            <a:cxnLst/>
            <a:rect r="r" b="b" t="t" l="l"/>
            <a:pathLst>
              <a:path h="1289974" w="6551742">
                <a:moveTo>
                  <a:pt x="0" y="0"/>
                </a:moveTo>
                <a:lnTo>
                  <a:pt x="6551742" y="0"/>
                </a:lnTo>
                <a:lnTo>
                  <a:pt x="655174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839647" y="3072888"/>
            <a:ext cx="2203405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9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BotThreads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101866" y="2569017"/>
            <a:ext cx="5665780" cy="1289974"/>
          </a:xfrm>
          <a:custGeom>
            <a:avLst/>
            <a:gdLst/>
            <a:ahLst/>
            <a:cxnLst/>
            <a:rect r="r" b="b" t="t" l="l"/>
            <a:pathLst>
              <a:path h="1289974" w="5665780">
                <a:moveTo>
                  <a:pt x="0" y="0"/>
                </a:moveTo>
                <a:lnTo>
                  <a:pt x="5665780" y="0"/>
                </a:lnTo>
                <a:lnTo>
                  <a:pt x="566578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194260" y="3072888"/>
            <a:ext cx="1394954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9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Manual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6655" y="4062579"/>
            <a:ext cx="1389930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70" b="true">
                <a:solidFill>
                  <a:srgbClr val="052140"/>
                </a:solidFill>
                <a:latin typeface="Inter Medium"/>
                <a:ea typeface="Inter Medium"/>
                <a:cs typeface="Inter Medium"/>
                <a:sym typeface="Inter Medium"/>
              </a:rPr>
              <a:t>Waktu tim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81408" y="4062579"/>
            <a:ext cx="2282634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70" b="true">
                <a:solidFill>
                  <a:srgbClr val="052140"/>
                </a:solidFill>
                <a:latin typeface="Inter Medium"/>
                <a:ea typeface="Inter Medium"/>
                <a:cs typeface="Inter Medium"/>
                <a:sym typeface="Inter Medium"/>
              </a:rPr>
              <a:t>Mengawasi hasil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57235" y="4062579"/>
            <a:ext cx="4242940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70" b="true">
                <a:solidFill>
                  <a:srgbClr val="052140"/>
                </a:solidFill>
                <a:latin typeface="Inter Medium"/>
                <a:ea typeface="Inter Medium"/>
                <a:cs typeface="Inter Medium"/>
                <a:sym typeface="Inter Medium"/>
              </a:rPr>
              <a:t>Menulis dan posting setiap hari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4705" y="4996352"/>
            <a:ext cx="1584945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70" b="true">
                <a:solidFill>
                  <a:srgbClr val="052140"/>
                </a:solidFill>
                <a:latin typeface="Inter Medium"/>
                <a:ea typeface="Inter Medium"/>
                <a:cs typeface="Inter Medium"/>
                <a:sym typeface="Inter Medium"/>
              </a:rPr>
              <a:t>Konsistensi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56192" y="4996352"/>
            <a:ext cx="4804261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70" b="true">
                <a:solidFill>
                  <a:srgbClr val="052140"/>
                </a:solidFill>
                <a:latin typeface="Inter Medium"/>
                <a:ea typeface="Inter Medium"/>
                <a:cs typeface="Inter Medium"/>
                <a:sym typeface="Inter Medium"/>
              </a:rPr>
              <a:t>Minimal 3 posting per akun per hari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61073" y="4996352"/>
            <a:ext cx="3859103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70" b="true">
                <a:solidFill>
                  <a:srgbClr val="052140"/>
                </a:solidFill>
                <a:latin typeface="Inter Medium"/>
                <a:ea typeface="Inter Medium"/>
                <a:cs typeface="Inter Medium"/>
                <a:sym typeface="Inter Medium"/>
              </a:rPr>
              <a:t>Sering bolong saat tim sibuk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64477" y="5930124"/>
            <a:ext cx="1607779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70" b="true">
                <a:solidFill>
                  <a:srgbClr val="052140"/>
                </a:solidFill>
                <a:latin typeface="Inter Medium"/>
                <a:ea typeface="Inter Medium"/>
                <a:cs typeface="Inter Medium"/>
                <a:sym typeface="Inter Medium"/>
              </a:rPr>
              <a:t>Jam tayang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58266" y="5930124"/>
            <a:ext cx="4596844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70" b="true">
                <a:solidFill>
                  <a:srgbClr val="052140"/>
                </a:solidFill>
                <a:latin typeface="Inter Medium"/>
                <a:ea typeface="Inter Medium"/>
                <a:cs typeface="Inter Medium"/>
                <a:sym typeface="Inter Medium"/>
              </a:rPr>
              <a:t>Dihitung dari data views tiap akun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68618" y="5930124"/>
            <a:ext cx="3104579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70" b="true">
                <a:solidFill>
                  <a:srgbClr val="052140"/>
                </a:solidFill>
                <a:latin typeface="Inter Medium"/>
                <a:ea typeface="Inter Medium"/>
                <a:cs typeface="Inter Medium"/>
                <a:sym typeface="Inter Medium"/>
              </a:rPr>
              <a:t>Ditebak dari kebiasaan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59995" y="6848835"/>
            <a:ext cx="3966891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70" b="true">
                <a:solidFill>
                  <a:srgbClr val="052140"/>
                </a:solidFill>
                <a:latin typeface="Inter Medium"/>
                <a:ea typeface="Inter Medium"/>
                <a:cs typeface="Inter Medium"/>
                <a:sym typeface="Inter Medium"/>
              </a:rPr>
              <a:t>Bergantung ketelitian penulis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57497" y="7752485"/>
            <a:ext cx="2305765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70" b="true">
                <a:solidFill>
                  <a:srgbClr val="052140"/>
                </a:solidFill>
                <a:latin typeface="Inter Medium"/>
                <a:ea typeface="Inter Medium"/>
                <a:cs typeface="Inter Medium"/>
                <a:sym typeface="Inter Medium"/>
              </a:rPr>
              <a:t>Keunikan konten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67034" y="7752485"/>
            <a:ext cx="3720025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70" b="true">
                <a:solidFill>
                  <a:srgbClr val="052140"/>
                </a:solidFill>
                <a:latin typeface="Inter Medium"/>
                <a:ea typeface="Inter Medium"/>
                <a:cs typeface="Inter Medium"/>
                <a:sym typeface="Inter Medium"/>
              </a:rPr>
              <a:t>Dicek kemiripan antar akun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53748" y="7752485"/>
            <a:ext cx="4591564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70" b="true">
                <a:solidFill>
                  <a:srgbClr val="052140"/>
                </a:solidFill>
                <a:latin typeface="Inter Medium"/>
                <a:ea typeface="Inter Medium"/>
                <a:cs typeface="Inter Medium"/>
                <a:sym typeface="Inter Medium"/>
              </a:rPr>
              <a:t>Cabang sering posting hal serupa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69244" y="8686258"/>
            <a:ext cx="1131109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70" b="true">
                <a:solidFill>
                  <a:srgbClr val="052140"/>
                </a:solidFill>
                <a:latin typeface="Inter Medium"/>
                <a:ea typeface="Inter Medium"/>
                <a:cs typeface="Inter Medium"/>
                <a:sym typeface="Inter Medium"/>
              </a:rPr>
              <a:t>Evaluasi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62265" y="8686258"/>
            <a:ext cx="4196975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70" b="true">
                <a:solidFill>
                  <a:srgbClr val="052140"/>
                </a:solidFill>
                <a:latin typeface="Inter Medium"/>
                <a:ea typeface="Inter Medium"/>
                <a:cs typeface="Inter Medium"/>
                <a:sym typeface="Inter Medium"/>
              </a:rPr>
              <a:t>Otomatis dari hasil tiap posting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576286" y="8686258"/>
            <a:ext cx="2337810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70" b="true">
                <a:solidFill>
                  <a:srgbClr val="052140"/>
                </a:solidFill>
                <a:latin typeface="Inter Medium"/>
                <a:ea typeface="Inter Medium"/>
                <a:cs typeface="Inter Medium"/>
                <a:sym typeface="Inter Medium"/>
              </a:rPr>
              <a:t>Jarang dilakukan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252648" y="6848835"/>
            <a:ext cx="5158635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70" b="true">
                <a:solidFill>
                  <a:srgbClr val="052140"/>
                </a:solidFill>
                <a:latin typeface="Inter Medium"/>
                <a:ea typeface="Inter Medium"/>
                <a:cs typeface="Inter Medium"/>
                <a:sym typeface="Inter Medium"/>
              </a:rPr>
              <a:t>Harga dan promo dicek ke data brand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62598" y="6848835"/>
            <a:ext cx="1795684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spc="-70" b="true">
                <a:solidFill>
                  <a:srgbClr val="052140"/>
                </a:solidFill>
                <a:latin typeface="Inter Medium"/>
                <a:ea typeface="Inter Medium"/>
                <a:cs typeface="Inter Medium"/>
                <a:sym typeface="Inter Medium"/>
              </a:rPr>
              <a:t>Akurasi fakta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30628" y="3044974"/>
            <a:ext cx="6240346" cy="386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60"/>
              </a:lnSpc>
            </a:pPr>
            <a:r>
              <a:rPr lang="en-US" sz="16393" spc="-328" b="true">
                <a:solidFill>
                  <a:srgbClr val="051F47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20354" y="6854356"/>
            <a:ext cx="5020450" cy="655919"/>
          </a:xfrm>
          <a:custGeom>
            <a:avLst/>
            <a:gdLst/>
            <a:ahLst/>
            <a:cxnLst/>
            <a:rect r="r" b="b" t="t" l="l"/>
            <a:pathLst>
              <a:path h="655919" w="5020450">
                <a:moveTo>
                  <a:pt x="0" y="0"/>
                </a:moveTo>
                <a:lnTo>
                  <a:pt x="5020450" y="0"/>
                </a:lnTo>
                <a:lnTo>
                  <a:pt x="5020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06488" y="2142670"/>
            <a:ext cx="8498670" cy="6001661"/>
          </a:xfrm>
          <a:custGeom>
            <a:avLst/>
            <a:gdLst/>
            <a:ahLst/>
            <a:cxnLst/>
            <a:rect r="r" b="b" t="t" l="l"/>
            <a:pathLst>
              <a:path h="6001661" w="8498670">
                <a:moveTo>
                  <a:pt x="0" y="0"/>
                </a:moveTo>
                <a:lnTo>
                  <a:pt x="8498670" y="0"/>
                </a:lnTo>
                <a:lnTo>
                  <a:pt x="8498670" y="6001660"/>
                </a:lnTo>
                <a:lnTo>
                  <a:pt x="0" y="60016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25244" y="2350377"/>
            <a:ext cx="1531292" cy="437279"/>
          </a:xfrm>
          <a:custGeom>
            <a:avLst/>
            <a:gdLst/>
            <a:ahLst/>
            <a:cxnLst/>
            <a:rect r="r" b="b" t="t" l="l"/>
            <a:pathLst>
              <a:path h="437279" w="1531292">
                <a:moveTo>
                  <a:pt x="0" y="0"/>
                </a:moveTo>
                <a:lnTo>
                  <a:pt x="1531292" y="0"/>
                </a:lnTo>
                <a:lnTo>
                  <a:pt x="153129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808689" y="3647456"/>
            <a:ext cx="2289723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 spc="-6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riset_tren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88527" y="3647456"/>
            <a:ext cx="1831779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3032" spc="-6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... </a:t>
            </a:r>
            <a:r>
              <a:rPr lang="en-US" sz="3032" spc="-60">
                <a:solidFill>
                  <a:srgbClr val="24B2A6"/>
                </a:solidFill>
                <a:latin typeface="Inter"/>
                <a:ea typeface="Inter"/>
                <a:cs typeface="Inter"/>
                <a:sym typeface="Inter"/>
              </a:rPr>
              <a:t>done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08687" y="4400498"/>
            <a:ext cx="2289916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 spc="-6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tulis_draf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88527" y="4400498"/>
            <a:ext cx="1831779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3032" spc="-6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... </a:t>
            </a:r>
            <a:r>
              <a:rPr lang="en-US" sz="3032" spc="-60">
                <a:solidFill>
                  <a:srgbClr val="24B2A6"/>
                </a:solidFill>
                <a:latin typeface="Inter"/>
                <a:ea typeface="Inter"/>
                <a:cs typeface="Inter"/>
                <a:sym typeface="Inter"/>
              </a:rPr>
              <a:t>done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04109" y="5138480"/>
            <a:ext cx="2747668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 spc="-6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cek_kualitas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88527" y="5138480"/>
            <a:ext cx="1831779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3032" spc="-6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... </a:t>
            </a:r>
            <a:r>
              <a:rPr lang="en-US" sz="3032" spc="-60">
                <a:solidFill>
                  <a:srgbClr val="24B2A6"/>
                </a:solidFill>
                <a:latin typeface="Inter"/>
                <a:ea typeface="Inter"/>
                <a:cs typeface="Inter"/>
                <a:sym typeface="Inter"/>
              </a:rPr>
              <a:t>done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94950" y="5891522"/>
            <a:ext cx="3663558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 spc="-6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jadwal_jam_ramai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88527" y="5891522"/>
            <a:ext cx="1831779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</a:pPr>
            <a:r>
              <a:rPr lang="en-US" sz="3032" spc="-6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... </a:t>
            </a:r>
            <a:r>
              <a:rPr lang="en-US" sz="3032" spc="-60">
                <a:solidFill>
                  <a:srgbClr val="24B2A6"/>
                </a:solidFill>
                <a:latin typeface="Inter"/>
                <a:ea typeface="Inter"/>
                <a:cs typeface="Inter"/>
                <a:sym typeface="Inter"/>
              </a:rPr>
              <a:t>done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83502" y="6659624"/>
            <a:ext cx="4808420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 spc="-6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 posting siap tayang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DAHYnIGfji8</dc:identifier>
  <dcterms:modified xsi:type="dcterms:W3CDTF">2011-08-01T06:04:30Z</dcterms:modified>
  <cp:revision>1</cp:revision>
  <dc:title>BotThreads Automation</dc:title>
</cp:coreProperties>
</file>